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Site, reservations et equipe
Presentation et cas d'usage
Recette locale - plan 2D / Standard / VIP / telephone,Guide complet : docs/GUIDE-UTILISATION.md. Recette locale ; aucune donnee d'acces privee.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Vitrine : accueil, cheffe, carte, galerie, evenements, contact et informations legales.
Deux parcours de demande : reservation classique ou choix d'une table sur le plan 2D.
Exploitation : appels, affectations, arrivee, paiement sur place, depart et nettoyage.
Equipe : six roles, comptes personnels et permissions controlees sur le serveur.
La disponibilite affichee n'est pas une confirmation. L'equipe confirme par telephone.,Guide complet : docs/GUIDE-UTILISATION.md. Recette locale ; aucune donnee d'acces privee.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Entree photographique : acces direct, Passer ou Echap ; mouvements reduits respectes.
Les logos publics rejouent l'entree. Le logo prive reste dans le dashboard.
L'heure bleue : jusqu'a trois evenements publies et futurs, classes par ordre puis date.
Presentation de la cheffe, petit mot, bandeau et photos administrables.
Carte par categorie, prix et allergenes ; galerie plein ecran ; contact et pages legales.
Aucun lien du personnel n'est expose dans la navigation publique.,Guide complet : docs/GUIDE-UTILISATION.md. Recette locale ; aucune donnee d'acces privee.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Choisir date, convives et categorie Standard ou VIP.
2. Choisir un service disponible et saisir nom, telephone, email facultatif et consentement.
3. Recevoir une reference : demande en attente d'appel, sans table bloquee ni paiement.
4. L'accueil telephone. La confirmation affecte les tables compatibles dans la categorie choisie.
Pour un groupe, le regroupement exige le meme espace et un groupe de tables compatible.
Aucun supplement VIP n'a ete invente ; conditions et tarifs restent a confirmer.,Guide complet : docs/GUIDE-UTILISATION.md. Recette locale ; aucune donnee d'acces privee.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T01 a T37 et BAR : 38 unites de reservation, dont 9 VIP.
Filtre Toutes / Standard / VIP ; disponibilite par date, service et convives.
Marqueurs distincts, popup et formulaire pre-rempli ; liste alternative sur mobile.
BAR est un comptoir collectif indicatif, pas dix sieges independants.
Plan, capacites et classement VIP sont a valider avec la salle reelle.,Guide complet : docs/GUIDE-UTILISATION.md. Recette locale ; aucune donnee d'acces privee.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Choisir date, convives, service et eventuellement categorie.
2. Ouvrir une table disponible puis Continuer ; une table indisponible ne propose pas de reservation.
3. Le formulaire conserve la table, la date, le service, les convives et la categorie reelle.
4. La demande conserve la table souhaitee mais ne bloque pas encore cette table.
5. A l'appel, seule la table exacte peut etre confirmee si elle est encore compatible et libre.
En cas de conflit : refus explicite, aucune substitution silencieuse. Annuler/recreer si le souhait change.,Guide complet : docs/GUIDE-UTILISATION.md. Recette locale ; aucune donnee d'acces privee.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ATTENTE D'APPEL  &gt;  CONFIRMEE PAR APPEL  &gt;  CLIENTS INSTALLES  &gt;  TERMINEE
CALL_PENDING  &gt;  RESERVED  &gt;  ARRIVED  &gt;  COMPLETED
Sans reponse : A rappeler, tentative et dernier appel traces, prochain rappel avant le service.
Annulation : CANCELLED ; absence apres le delai de grace : NO_SHOW.
La confirmation et l'affectation sont atomiques. Les demandes en attente ne bloquent rien.
Les anciens statuts restent lisibles pour l'historique, sans revenir au parcours provisoire.,Guide complet : docs/GUIDE-UTILISATION.md. Recette locale ; aucune donnee d'acces privee.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Ouvrir la file des demandes TO_CALL ou NO_ANSWER ; les rappels sont classes par echeance.
Consulter client, telephone, service, convives, Standard/VIP et table souhaitee.
Sans reponse : enregistrer l'essai et choisir le prochain rappel ; aucune occupation creee.
Client confirme : Confirmer par telephone recontrole les disponibilites et affecte les tables.
Client annule : enregistrer l'annulation et fermer le dossier.
Chaque action est tracee ; une confirmation en conflit est refusee et doit etre resolue avec le client.,Guide complet : docs/GUIDE-UTILISATION.md. Recette locale ; aucune donnee d'acces privee.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 A : demande classique VIP. Client B : choisit la derniere VIP sur le plan.
Client C : fait aussi une demande. Les trois demandes peuvent rester en attente.
L'accueil confirme A : transaction, recontrole et affectation de la VIP.
Une confirmation concurrente de B ou C est refusee : aucun double blocage.
Le double clic d'un meme client conserve une seule demande grace a la cle d'idempotence.
La disponibilite est toujours reverifiee lors de la confirmation, pas seulement dans le navigateur.,Guide complet : docs/GUIDE-UTILISATION.md. Recette locale ; aucune donnee d'acces privee.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Clients installes : action possible dans la fenetre autorisee, jusqu'a 60 minutes avant le service.
Terminee : depart enregistre ; la table reste reservee pendant le delai de preparation.
Clients absents : action autorisee seulement apres le delai de grace, puis capacite liberee.
Annulee : dossier ferme et capacite liberee ; les etats terminaux ne se reouvrent pas.
SERVICE ne peut enregistrer arrivee/depart que sur ses reservations affectees.
Modifier date ou categorie : annuler et creer une nouvelle demande ; aucun report automatique.,Guide complet : docs/GUIDE-UTILISATION.md. Recette locale ; aucune donnee d'acces privee.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Aucun encaissement a la demande ni a la confirmation telephonique.
Encaissement manuel : ADMIN, MANAGER ou CASHIER, apres arrivee, montant positif, une seule fois.
Paiement et reservation sont distincts : payer ne termine pas le service.
Annulation deja payee : traitement du remboursement separe, jamais un faux remboursement automatique.
CMI est desactive. Aucun paiement en ligne reel ou simule n'est disponible.
La reduction configuree ne concerne que le futur paiement en ligne, jamais le paiement sur place.,Guide complet : docs/GUIDE-UTILISATION.md. Recette locale ; aucune donnee d'acces privee.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 / developpeur : administration complete ; seul role autorise a creer les acces, changer roles, emails, activation et mots de passe.
MANAGER : reservations, salle, encaissement, reglages, contenus, audit et informations professionnelles de l'equipe.
Le manager peut ajouter une fiche SERVICE sans connexion, mais ne peut pas gerer les acces ni modifier le developpeur.
Un administrateur ne peut pas retirer son propre acces ni retirer le dernier administrateur actif avec mot de passe.
Les permissions sont verifiees sur le serveur, meme pour une requete fabriquee hors interface.,Guide complet : docs/GUIDE-UTILISATION.md. Recette locale ; aucune donnee d'acces privee.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HOST / accueil : demandes, appels, confirmation, annulation, absence, affectations, arrivee et depart. Pas de caisse ou de reglages.
SERVICE : uniquement ses dossiers affectes ; arrivee/depart. Pas de confirmation d'appel ni d'encaissement.
CASHIER / caisse : dossiers installes ou termines et encaissement ; sans telephone, email ou note client.
EDITOR / communication : carte, evenements, medias, brouillons et publication ; aucune reservation ni fiche personnel.
Tous les roles peuvent changer leur propre mot de passe via Mon compte.,Guide complet : docs/GUIDE-UTILISATION.md. Recette locale ; aucune donnee d'acces privee.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comptes de recette avec adresses .test : developpeur, manager, accueil, service, caisse et communication.
Mots de passe aleatoires remis separement dans un fichier prive hors depot. Aucun secret dans cette presentation.
Premiere connexion : renouvellement obligatoire avant tout acces au dashboard ou a ses API.
Nouveau mot de passe distinct, 12 caracteres minimum, limite de 72 octets.
Le renouvellement invalide les autres sessions. Desactiver un compte coupe aussi son acces.
L'administrateur existant est conserve. Un redeploiement ne reinitialise et ne reactive aucun compte.,Guide complet : docs/GUIDE-UTILISATION.md. Recette locale ; aucune donnee d'acces privee.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Salle &amp; tables : nom, places, espace, groupe, actif, Standard/VIP et position sur le plan.
Reaffecter les dossiers futurs avant reduction de capacite ou changement de categorie, espace, groupe ou activation.
Personnel : fonctions, fiches, planning sous forme de note et affectations par reservation.
Parametres : parcours classique/plan independants ; au moins un parcours doit rester actif.
Services, fermetures, convives maximum, duree, nettoyage et delai de grace controles par le serveur.
Audit global pour ADMIN/MANAGER et historique du dossier pour le suivi operationnel.,Guide complet : docs/GUIDE-UTILISATION.md. Recette locale ; aucune donnee d'acces privee.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Carte : categorie, description, prix MAD, allergenes, photo, ordre et visibilite.
Evenements : date, horaire, description, photo, ordre et publication. Les brouillons/passes sont caches du public.
Medias : JPEG/PNG/WebP jusqu'a 8 Mo, MP4 jusqu'a 30 Mo ; SVG/HTML refuses.
Contenus : textes, cheffe, bandeau, contact et logos. Brouillon &gt; apercu prive &gt; publication.
Un brouillon enregistre ne change pas le site public. Pas de donnees de brouillon pour les roles operationnels.
Les photos, prix, identites et annonces d'exemple doivent etre remplaces avant exploitation.,Guide complet : docs/GUIDE-UTILISATION.md. Recette locale ; aucune donnee d'acces privee.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 cinq largeurs, 320 / 390 / 768 / 1024 / 1440 ; 38 marqueurs, popup et liste alternative.
Deux clients anonymes tactiles : demande classique VIP et demande sur plan VIP.
Appel sur mobile : rappel, confirmation et affectation visibles apres actualisation.
Recette generale : cinq pages publiques et dix vues du dashboard sur six formats, dont paysage 844 pixels.
Six roles sur mobile : navigation restreinte, Mon compte et premier renouvellement.
Tableaux et plan defilent dans leur propre conteneur ; pas de debordement global de la page.,Guide complet : docs/GUIDE-UTILISATION.md. Recette locale ; aucune donnee d'acces privee.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scenarios multi-clients : donnees, capacite, categories, concurrence et cycle de vie.
39 controles d'acces : six roles, premier renouvellement, origines, anciennes sessions et desactivation.
7 groupes de controles du plan : 38 unites, 9 VIP, cinq formats et 2 clients tactiles.
Recette generale UI et regression responsive passees sur la base locale.
Ces resultats ne constituent pas une certification de la base ou du deploiement Railway.
Les fixtures et comptes temporaires sont nettoyes ; les acces d'equipe sont conserves.,Guide complet : docs/GUIDE-UTILISATION.md. Recette locale ; aucune donnee d'acces privee.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Valider la salle reelle, les capacites, groupes et VIP ; definir les conditions et tarifs VIP sans supposition.
Remplacer les identites .test par les collaborateurs reels ; renouveler les mots de passe et desactiver les acces inutilises.
Remplacer photos, cheffe, carte, prix, evenements et informations de contact/legal de demonstration.
Pas de SMS/email automatique, recuperation de mot de passe, 2FA ni report automatique implementes.
CMI exige contrat, integration, notifications signees, rapprochement et tests prestataire avant activation.
Sauvegarder la base et les fichiers importes sur le volume persistant ; verifier le deploiement Railway apres publication.,Guide complet : docs/GUIDE-UTILISATION.md. Recette locale ; aucune donnee d'acces privee.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R01 / Telephone invalide refuse : PASS
R02 / Consentement absent refuse : PASS
R03 / Date impossible refusee : PASS
R04 / Date passee refusee : PASS
R05 / Date au-dela de six mois refusee : PASS
R06 / Service ferme refuse : PASS,Guide complet : docs/GUIDE-UTILISATION.md. Recette locale ; aucune donnee d'acces privee.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R07 / Jour de fermeture refuse : PASS
R08 / Groupe au-dela du maximum refuse : PASS
R09 / Table inconnue refusee : PASS
R10 / Table trop petite refusee sur le plan : PASS
R11 / Table inactive refusee : PASS
R12 / CMI refuse et aucune remise sur place : PASS,Guide complet : docs/GUIDE-UTILISATION.md. Recette locale ; aucune donnee d'acces privee.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R13 / Double clic idempotent : PASS
R14 / Classique standard ne recoit pas de table VIP : PASS
R15 / Classique VIP recoit exclusivement des tables VIP : PASS
R16 / Plan VIP derive la categorie reelle, pas celle falsifiee du client : PASS
R17 / Appel sans reponse conserve une demande non bloquante avec rappel : PASS
R18 / Trois clients, deux parcours, une seule confirmation sur la derniere VIP : PASS,Guide complet : docs/GUIDE-UTILISATION.md. Recette locale ; aucune donnee d'acces privee.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R19 / Tables reunies seulement au sein du meme groupe standard : PASS
R20 / Une affectation ne change pas silencieusement standard en VIP : PASS
R21 / Service et caisse ne peuvent pas confirmer les appels : PASS
R22 / Annulation pendant l'appel ferme le dossier : PASS
R23 / Arrivee trop tot et absence avant delai refusees : PASS
R24 / Arrivee, encaissement sur place, depart et nettoyage : PASS,Guide complet : docs/GUIDE-UTILISATION.md. Recette locale ; aucune donnee d'acces privee.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R25 / Absence apres delai de grace et liberation de table : PASS
R26 / Les deux interrupteurs sont verifies au serveur : PASS,Guide complet : docs/GUIDE-UTILISATION.md. Recette locale ; aucune donnee d'acces privee.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 detaille : docs/GUIDE-UTILISATION.md ; regeneration : npm run docs:generate.
Comptes : npm run test:accounts ; salle : npm run test:floor.
General : npm run test:ui ; mobile : npm run test:responsive ; regles serveur : npm test.
Tests avec base : uniquement localement, sequentiellement ; jamais sur une base de production.
Les acces d'equipe seront initialises une seule fois lors du prochain demarrage de la nouvelle image deployee.
GALI BLUE / Casablanca / blanc et #01258F. Aucun mot de passe dans les livrables publics.,Guide complet : docs/GUIDE-UTILISATION.md. Recette locale ; aucune donnee d'acces privee.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1777898"/>
            <a:ext cx="12191695" cy="8127797"/>
          </a:xfrm>
          <a:prstGeom prst="rect">
            <a:avLst/>
          </a:prstGeom>
        </p:spPr>
      </p:pic>
      <p:sp>
        <p:nvSpPr>
          <p:cNvPr id="4" name="Shape 0"/>
          <p:cNvSpPr/>
          <p:nvPr/>
        </p:nvSpPr>
        <p:spPr>
          <a:xfrm>
            <a:off x="0" y="4190970"/>
            <a:ext cx="12191695" cy="2667030"/>
          </a:xfrm>
          <a:prstGeom prst="rect">
            <a:avLst/>
          </a:prstGeom>
          <a:solidFill>
            <a:srgbClr val="01258F"/>
          </a:solidFill>
          <a:ln w="12700">
            <a:solidFill>
              <a:srgbClr val="333333">
                <a:alpha val="0"/>
              </a:srgbClr>
            </a:solidFill>
            <a:prstDash val="solid"/>
          </a:ln>
        </p:spPr>
      </p:sp>
      <p:sp>
        <p:nvSpPr>
          <p:cNvPr id="5" name="Text 1"/>
          <p:cNvSpPr/>
          <p:nvPr/>
        </p:nvSpPr>
        <p:spPr>
          <a:xfrm>
            <a:off x="685800" y="4480560"/>
            <a:ext cx="10789920" cy="731520"/>
          </a:xfrm>
          <a:prstGeom prst="rect">
            <a:avLst/>
          </a:prstGeom>
          <a:noFill/>
          <a:ln/>
        </p:spPr>
        <p:txBody>
          <a:bodyPr wrap="square" lIns="0" tIns="0" rIns="0" bIns="0" rtlCol="0" anchor="ctr"/>
          <a:lstStyle/>
          <a:p>
            <a:pPr indent="0" marL="0">
              <a:buNone/>
            </a:pPr>
            <a:r>
              <a:rPr lang="en-US" sz="4400" dirty="0">
                <a:solidFill>
                  <a:srgbClr val="FFFFFF"/>
                </a:solidFill>
                <a:latin typeface="Georgia" pitchFamily="34" charset="0"/>
                <a:ea typeface="Georgia" pitchFamily="34" charset="-122"/>
                <a:cs typeface="Georgia" pitchFamily="34" charset="-120"/>
              </a:rPr>
              <a:t>GALI BLUE</a:t>
            </a:r>
            <a:endParaRPr lang="en-US" sz="4400" dirty="0"/>
          </a:p>
        </p:txBody>
      </p:sp>
      <p:sp>
        <p:nvSpPr>
          <p:cNvPr id="6" name="Text 2"/>
          <p:cNvSpPr/>
          <p:nvPr/>
        </p:nvSpPr>
        <p:spPr>
          <a:xfrm>
            <a:off x="736092" y="5166360"/>
            <a:ext cx="9144000" cy="274320"/>
          </a:xfrm>
          <a:prstGeom prst="rect">
            <a:avLst/>
          </a:prstGeom>
          <a:noFill/>
          <a:ln/>
        </p:spPr>
        <p:txBody>
          <a:bodyPr wrap="square" lIns="0" tIns="0" rIns="0" bIns="0" rtlCol="0" anchor="ctr"/>
          <a:lstStyle/>
          <a:p>
            <a:pPr indent="0" marL="0">
              <a:buNone/>
            </a:pPr>
            <a:r>
              <a:rPr lang="en-US" sz="1000" dirty="0">
                <a:solidFill>
                  <a:srgbClr val="FFFFFF"/>
                </a:solidFill>
              </a:rPr>
              <a:t>CASABLANCA</a:t>
            </a:r>
            <a:endParaRPr lang="en-US" sz="1000" dirty="0"/>
          </a:p>
        </p:txBody>
      </p:sp>
      <p:sp>
        <p:nvSpPr>
          <p:cNvPr id="7" name="Text 3"/>
          <p:cNvSpPr/>
          <p:nvPr/>
        </p:nvSpPr>
        <p:spPr>
          <a:xfrm>
            <a:off x="736092" y="5669280"/>
            <a:ext cx="10789920" cy="457200"/>
          </a:xfrm>
          <a:prstGeom prst="rect">
            <a:avLst/>
          </a:prstGeom>
          <a:noFill/>
          <a:ln/>
        </p:spPr>
        <p:txBody>
          <a:bodyPr wrap="square" lIns="0" tIns="0" rIns="0" bIns="0" rtlCol="0" anchor="ctr"/>
          <a:lstStyle/>
          <a:p>
            <a:pPr indent="0" marL="0">
              <a:buNone/>
            </a:pPr>
            <a:r>
              <a:rPr lang="en-US" sz="2100" dirty="0">
                <a:solidFill>
                  <a:srgbClr val="FFFFFF"/>
                </a:solidFill>
              </a:rPr>
              <a:t>Site, reservations et equipe</a:t>
            </a:r>
            <a:endParaRPr lang="en-US" sz="2100" dirty="0"/>
          </a:p>
        </p:txBody>
      </p:sp>
      <p:sp>
        <p:nvSpPr>
          <p:cNvPr id="8" name="Text 4"/>
          <p:cNvSpPr/>
          <p:nvPr/>
        </p:nvSpPr>
        <p:spPr>
          <a:xfrm>
            <a:off x="736092" y="6236208"/>
            <a:ext cx="10789920" cy="274320"/>
          </a:xfrm>
          <a:prstGeom prst="rect">
            <a:avLst/>
          </a:prstGeom>
          <a:noFill/>
          <a:ln/>
        </p:spPr>
        <p:txBody>
          <a:bodyPr wrap="square" lIns="0" tIns="0" rIns="0" bIns="0" rtlCol="0" anchor="ctr"/>
          <a:lstStyle/>
          <a:p>
            <a:pPr indent="0" marL="0">
              <a:buNone/>
            </a:pPr>
            <a:r>
              <a:rPr lang="en-US" sz="1200" dirty="0">
                <a:solidFill>
                  <a:srgbClr val="FFFFFF"/>
                </a:solidFill>
              </a:rPr>
              <a:t>Recette locale - plan 2D / Standard / VIP / telephone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11403" y="557784"/>
            <a:ext cx="557784" cy="0"/>
          </a:xfrm>
          <a:prstGeom prst="line">
            <a:avLst/>
          </a:prstGeom>
          <a:noFill/>
          <a:ln w="25400">
            <a:solidFill>
              <a:srgbClr val="01258F"/>
            </a:solidFill>
            <a:prstDash val="solid"/>
          </a:ln>
        </p:spPr>
      </p:sp>
      <p:sp>
        <p:nvSpPr>
          <p:cNvPr id="4" name="Text 1"/>
          <p:cNvSpPr/>
          <p:nvPr/>
        </p:nvSpPr>
        <p:spPr>
          <a:xfrm>
            <a:off x="711403" y="713232"/>
            <a:ext cx="10771632" cy="228600"/>
          </a:xfrm>
          <a:prstGeom prst="rect">
            <a:avLst/>
          </a:prstGeom>
          <a:noFill/>
          <a:ln/>
        </p:spPr>
        <p:txBody>
          <a:bodyPr wrap="square" lIns="0" tIns="0" rIns="0" bIns="0" rtlCol="0" anchor="ctr"/>
          <a:lstStyle/>
          <a:p>
            <a:pPr indent="0" marL="0">
              <a:buNone/>
            </a:pPr>
            <a:r>
              <a:rPr lang="en-US" sz="1000" dirty="0">
                <a:solidFill>
                  <a:srgbClr val="01258F"/>
                </a:solidFill>
              </a:rPr>
              <a:t>01 / VUE D'ENSEMBLE</a:t>
            </a:r>
            <a:endParaRPr lang="en-US" sz="1000" dirty="0"/>
          </a:p>
        </p:txBody>
      </p:sp>
      <p:sp>
        <p:nvSpPr>
          <p:cNvPr id="5" name="Text 2"/>
          <p:cNvSpPr/>
          <p:nvPr/>
        </p:nvSpPr>
        <p:spPr>
          <a:xfrm>
            <a:off x="685800" y="1051560"/>
            <a:ext cx="10771632" cy="512064"/>
          </a:xfrm>
          <a:prstGeom prst="rect">
            <a:avLst/>
          </a:prstGeom>
          <a:noFill/>
          <a:ln/>
        </p:spPr>
        <p:txBody>
          <a:bodyPr wrap="square" lIns="0" tIns="0" rIns="0" bIns="0" rtlCol="0" anchor="ctr">
            <a:normAutofit/>
          </a:bodyPr>
          <a:lstStyle/>
          <a:p>
            <a:pPr indent="0" marL="0">
              <a:buNone/>
            </a:pPr>
            <a:r>
              <a:rPr lang="en-US" sz="3100" dirty="0">
                <a:solidFill>
                  <a:srgbClr val="01258F"/>
                </a:solidFill>
                <a:latin typeface="Georgia" pitchFamily="34" charset="0"/>
                <a:ea typeface="Georgia" pitchFamily="34" charset="-122"/>
                <a:cs typeface="Georgia" pitchFamily="34" charset="-120"/>
              </a:rPr>
              <a:t>Le site et l'exploitation</a:t>
            </a:r>
            <a:endParaRPr lang="en-US" sz="3100" dirty="0"/>
          </a:p>
        </p:txBody>
      </p:sp>
      <p:sp>
        <p:nvSpPr>
          <p:cNvPr id="6" name="Text 3"/>
          <p:cNvSpPr/>
          <p:nvPr/>
        </p:nvSpPr>
        <p:spPr>
          <a:xfrm>
            <a:off x="711403" y="1801368"/>
            <a:ext cx="10769600" cy="4160520"/>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465064"/>
                </a:solidFill>
              </a:rPr>
              <a:t>Vitrine : accueil, cheffe, carte, galerie, evenements, contact et informations legales.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Deux parcours de demande : reservation classique ou choix d'une table sur le plan 2D.</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Exploitation : appels, affectations, arrivee, paiement sur place, depart et nettoyage.</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Equipe : six roles, comptes personnels et permissions controlees sur le serveur.</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La disponibilite affichee n'est pas une confirmation. L'equipe confirme par telephone.</a:t>
            </a:r>
            <a:endParaRPr lang="en-US" sz="1700" dirty="0"/>
          </a:p>
        </p:txBody>
      </p:sp>
      <p:sp>
        <p:nvSpPr>
          <p:cNvPr id="7" name="Text 4"/>
          <p:cNvSpPr/>
          <p:nvPr/>
        </p:nvSpPr>
        <p:spPr>
          <a:xfrm>
            <a:off x="711403" y="6473952"/>
            <a:ext cx="9144000" cy="201168"/>
          </a:xfrm>
          <a:prstGeom prst="rect">
            <a:avLst/>
          </a:prstGeom>
          <a:noFill/>
          <a:ln/>
        </p:spPr>
        <p:txBody>
          <a:bodyPr wrap="square" lIns="0" tIns="0" rIns="0" bIns="0" rtlCol="0" anchor="ctr"/>
          <a:lstStyle/>
          <a:p>
            <a:pPr indent="0" marL="0">
              <a:buNone/>
            </a:pPr>
            <a:r>
              <a:rPr lang="en-US" sz="900" dirty="0">
                <a:solidFill>
                  <a:srgbClr val="465064"/>
                </a:solidFill>
              </a:rPr>
              <a:t>GALI BLUE / Casablanca / Recette locale</a:t>
            </a:r>
            <a:endParaRPr lang="en-US" sz="900" dirty="0"/>
          </a:p>
        </p:txBody>
      </p:sp>
      <p:sp>
        <p:nvSpPr>
          <p:cNvPr id="8" name="Text 5"/>
          <p:cNvSpPr/>
          <p:nvPr/>
        </p:nvSpPr>
        <p:spPr>
          <a:xfrm>
            <a:off x="10947197" y="6473952"/>
            <a:ext cx="731520" cy="201168"/>
          </a:xfrm>
          <a:prstGeom prst="rect">
            <a:avLst/>
          </a:prstGeom>
          <a:noFill/>
          <a:ln/>
        </p:spPr>
        <p:txBody>
          <a:bodyPr wrap="square" lIns="0" tIns="0" rIns="0" bIns="0" rtlCol="0" anchor="ctr"/>
          <a:lstStyle/>
          <a:p>
            <a:pPr indent="0" marL="0">
              <a:buNone/>
            </a:pPr>
            <a:r>
              <a:rPr lang="en-US" sz="900" dirty="0">
                <a:solidFill>
                  <a:srgbClr val="465064"/>
                </a:solidFill>
              </a:rPr>
              <a:t>2 / 25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11403" y="557784"/>
            <a:ext cx="557784" cy="0"/>
          </a:xfrm>
          <a:prstGeom prst="line">
            <a:avLst/>
          </a:prstGeom>
          <a:noFill/>
          <a:ln w="25400">
            <a:solidFill>
              <a:srgbClr val="01258F"/>
            </a:solidFill>
            <a:prstDash val="solid"/>
          </a:ln>
        </p:spPr>
      </p:sp>
      <p:sp>
        <p:nvSpPr>
          <p:cNvPr id="4" name="Text 1"/>
          <p:cNvSpPr/>
          <p:nvPr/>
        </p:nvSpPr>
        <p:spPr>
          <a:xfrm>
            <a:off x="711403" y="713232"/>
            <a:ext cx="10771632" cy="228600"/>
          </a:xfrm>
          <a:prstGeom prst="rect">
            <a:avLst/>
          </a:prstGeom>
          <a:noFill/>
          <a:ln/>
        </p:spPr>
        <p:txBody>
          <a:bodyPr wrap="square" lIns="0" tIns="0" rIns="0" bIns="0" rtlCol="0" anchor="ctr"/>
          <a:lstStyle/>
          <a:p>
            <a:pPr indent="0" marL="0">
              <a:buNone/>
            </a:pPr>
            <a:r>
              <a:rPr lang="en-US" sz="1000" dirty="0">
                <a:solidFill>
                  <a:srgbClr val="01258F"/>
                </a:solidFill>
              </a:rPr>
              <a:t>02 / PUBLIC</a:t>
            </a:r>
            <a:endParaRPr lang="en-US" sz="1000" dirty="0"/>
          </a:p>
        </p:txBody>
      </p:sp>
      <p:sp>
        <p:nvSpPr>
          <p:cNvPr id="5" name="Text 2"/>
          <p:cNvSpPr/>
          <p:nvPr/>
        </p:nvSpPr>
        <p:spPr>
          <a:xfrm>
            <a:off x="685800" y="1051560"/>
            <a:ext cx="10771632" cy="512064"/>
          </a:xfrm>
          <a:prstGeom prst="rect">
            <a:avLst/>
          </a:prstGeom>
          <a:noFill/>
          <a:ln/>
        </p:spPr>
        <p:txBody>
          <a:bodyPr wrap="square" lIns="0" tIns="0" rIns="0" bIns="0" rtlCol="0" anchor="ctr">
            <a:normAutofit/>
          </a:bodyPr>
          <a:lstStyle/>
          <a:p>
            <a:pPr indent="0" marL="0">
              <a:buNone/>
            </a:pPr>
            <a:r>
              <a:rPr lang="en-US" sz="3100" dirty="0">
                <a:solidFill>
                  <a:srgbClr val="01258F"/>
                </a:solidFill>
                <a:latin typeface="Georgia" pitchFamily="34" charset="0"/>
                <a:ea typeface="Georgia" pitchFamily="34" charset="-122"/>
                <a:cs typeface="Georgia" pitchFamily="34" charset="-120"/>
              </a:rPr>
              <a:t>Le parcours de decouverte</a:t>
            </a:r>
            <a:endParaRPr lang="en-US" sz="3100" dirty="0"/>
          </a:p>
        </p:txBody>
      </p:sp>
      <p:sp>
        <p:nvSpPr>
          <p:cNvPr id="6" name="Text 3"/>
          <p:cNvSpPr/>
          <p:nvPr/>
        </p:nvSpPr>
        <p:spPr>
          <a:xfrm>
            <a:off x="711403" y="1801368"/>
            <a:ext cx="10769600" cy="4160520"/>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465064"/>
                </a:solidFill>
              </a:rPr>
              <a:t>Entree photographique : acces direct, Passer ou Echap ; mouvements reduits respectes.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Les logos publics rejouent l'entree. Le logo prive reste dans le dashboard.</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L'heure bleue : jusqu'a trois evenements publies et futurs, classes par ordre puis date.</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Presentation de la cheffe, petit mot, bandeau et photos administrables.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Carte par categorie, prix et allergenes ; galerie plein ecran ; contact et pages legales.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Aucun lien du personnel n'est expose dans la navigation publique.</a:t>
            </a:r>
            <a:endParaRPr lang="en-US" sz="1700" dirty="0"/>
          </a:p>
        </p:txBody>
      </p:sp>
      <p:sp>
        <p:nvSpPr>
          <p:cNvPr id="7" name="Text 4"/>
          <p:cNvSpPr/>
          <p:nvPr/>
        </p:nvSpPr>
        <p:spPr>
          <a:xfrm>
            <a:off x="711403" y="6473952"/>
            <a:ext cx="9144000" cy="201168"/>
          </a:xfrm>
          <a:prstGeom prst="rect">
            <a:avLst/>
          </a:prstGeom>
          <a:noFill/>
          <a:ln/>
        </p:spPr>
        <p:txBody>
          <a:bodyPr wrap="square" lIns="0" tIns="0" rIns="0" bIns="0" rtlCol="0" anchor="ctr"/>
          <a:lstStyle/>
          <a:p>
            <a:pPr indent="0" marL="0">
              <a:buNone/>
            </a:pPr>
            <a:r>
              <a:rPr lang="en-US" sz="900" dirty="0">
                <a:solidFill>
                  <a:srgbClr val="465064"/>
                </a:solidFill>
              </a:rPr>
              <a:t>GALI BLUE / Casablanca / Recette locale</a:t>
            </a:r>
            <a:endParaRPr lang="en-US" sz="900" dirty="0"/>
          </a:p>
        </p:txBody>
      </p:sp>
      <p:sp>
        <p:nvSpPr>
          <p:cNvPr id="8" name="Text 5"/>
          <p:cNvSpPr/>
          <p:nvPr/>
        </p:nvSpPr>
        <p:spPr>
          <a:xfrm>
            <a:off x="10947197" y="6473952"/>
            <a:ext cx="731520" cy="201168"/>
          </a:xfrm>
          <a:prstGeom prst="rect">
            <a:avLst/>
          </a:prstGeom>
          <a:noFill/>
          <a:ln/>
        </p:spPr>
        <p:txBody>
          <a:bodyPr wrap="square" lIns="0" tIns="0" rIns="0" bIns="0" rtlCol="0" anchor="ctr"/>
          <a:lstStyle/>
          <a:p>
            <a:pPr indent="0" marL="0">
              <a:buNone/>
            </a:pPr>
            <a:r>
              <a:rPr lang="en-US" sz="900" dirty="0">
                <a:solidFill>
                  <a:srgbClr val="465064"/>
                </a:solidFill>
              </a:rPr>
              <a:t>3 / 25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11403" y="557784"/>
            <a:ext cx="557784" cy="0"/>
          </a:xfrm>
          <a:prstGeom prst="line">
            <a:avLst/>
          </a:prstGeom>
          <a:noFill/>
          <a:ln w="25400">
            <a:solidFill>
              <a:srgbClr val="01258F"/>
            </a:solidFill>
            <a:prstDash val="solid"/>
          </a:ln>
        </p:spPr>
      </p:sp>
      <p:sp>
        <p:nvSpPr>
          <p:cNvPr id="4" name="Text 1"/>
          <p:cNvSpPr/>
          <p:nvPr/>
        </p:nvSpPr>
        <p:spPr>
          <a:xfrm>
            <a:off x="711403" y="713232"/>
            <a:ext cx="10771632" cy="228600"/>
          </a:xfrm>
          <a:prstGeom prst="rect">
            <a:avLst/>
          </a:prstGeom>
          <a:noFill/>
          <a:ln/>
        </p:spPr>
        <p:txBody>
          <a:bodyPr wrap="square" lIns="0" tIns="0" rIns="0" bIns="0" rtlCol="0" anchor="ctr"/>
          <a:lstStyle/>
          <a:p>
            <a:pPr indent="0" marL="0">
              <a:buNone/>
            </a:pPr>
            <a:r>
              <a:rPr lang="en-US" sz="1000" dirty="0">
                <a:solidFill>
                  <a:srgbClr val="01258F"/>
                </a:solidFill>
              </a:rPr>
              <a:t>03 / STANDARD OU VIP</a:t>
            </a:r>
            <a:endParaRPr lang="en-US" sz="1000" dirty="0"/>
          </a:p>
        </p:txBody>
      </p:sp>
      <p:sp>
        <p:nvSpPr>
          <p:cNvPr id="5" name="Text 2"/>
          <p:cNvSpPr/>
          <p:nvPr/>
        </p:nvSpPr>
        <p:spPr>
          <a:xfrm>
            <a:off x="685800" y="1051560"/>
            <a:ext cx="10771632" cy="512064"/>
          </a:xfrm>
          <a:prstGeom prst="rect">
            <a:avLst/>
          </a:prstGeom>
          <a:noFill/>
          <a:ln/>
        </p:spPr>
        <p:txBody>
          <a:bodyPr wrap="square" lIns="0" tIns="0" rIns="0" bIns="0" rtlCol="0" anchor="ctr">
            <a:normAutofit/>
          </a:bodyPr>
          <a:lstStyle/>
          <a:p>
            <a:pPr indent="0" marL="0">
              <a:buNone/>
            </a:pPr>
            <a:r>
              <a:rPr lang="en-US" sz="3100" dirty="0">
                <a:solidFill>
                  <a:srgbClr val="01258F"/>
                </a:solidFill>
                <a:latin typeface="Georgia" pitchFamily="34" charset="0"/>
                <a:ea typeface="Georgia" pitchFamily="34" charset="-122"/>
                <a:cs typeface="Georgia" pitchFamily="34" charset="-120"/>
              </a:rPr>
              <a:t>Reservation classique</a:t>
            </a:r>
            <a:endParaRPr lang="en-US" sz="3100" dirty="0"/>
          </a:p>
        </p:txBody>
      </p:sp>
      <p:sp>
        <p:nvSpPr>
          <p:cNvPr id="6" name="Text 3"/>
          <p:cNvSpPr/>
          <p:nvPr/>
        </p:nvSpPr>
        <p:spPr>
          <a:xfrm>
            <a:off x="711403" y="1801368"/>
            <a:ext cx="10769600" cy="4160520"/>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465064"/>
                </a:solidFill>
              </a:rPr>
              <a:t>1. Choisir date, convives et categorie Standard ou VIP.</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2. Choisir un service disponible et saisir nom, telephone, email facultatif et consentement.</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3. Recevoir une reference : demande en attente d'appel, sans table bloquee ni paiement.</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4. L'accueil telephone. La confirmation affecte les tables compatibles dans la categorie choisie.</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Pour un groupe, le regroupement exige le meme espace et un groupe de tables compatible.</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Aucun supplement VIP n'a ete invente ; conditions et tarifs restent a confirmer.</a:t>
            </a:r>
            <a:endParaRPr lang="en-US" sz="1700" dirty="0"/>
          </a:p>
        </p:txBody>
      </p:sp>
      <p:sp>
        <p:nvSpPr>
          <p:cNvPr id="7" name="Text 4"/>
          <p:cNvSpPr/>
          <p:nvPr/>
        </p:nvSpPr>
        <p:spPr>
          <a:xfrm>
            <a:off x="711403" y="6473952"/>
            <a:ext cx="9144000" cy="201168"/>
          </a:xfrm>
          <a:prstGeom prst="rect">
            <a:avLst/>
          </a:prstGeom>
          <a:noFill/>
          <a:ln/>
        </p:spPr>
        <p:txBody>
          <a:bodyPr wrap="square" lIns="0" tIns="0" rIns="0" bIns="0" rtlCol="0" anchor="ctr"/>
          <a:lstStyle/>
          <a:p>
            <a:pPr indent="0" marL="0">
              <a:buNone/>
            </a:pPr>
            <a:r>
              <a:rPr lang="en-US" sz="900" dirty="0">
                <a:solidFill>
                  <a:srgbClr val="465064"/>
                </a:solidFill>
              </a:rPr>
              <a:t>GALI BLUE / Casablanca / Recette locale</a:t>
            </a:r>
            <a:endParaRPr lang="en-US" sz="900" dirty="0"/>
          </a:p>
        </p:txBody>
      </p:sp>
      <p:sp>
        <p:nvSpPr>
          <p:cNvPr id="8" name="Text 5"/>
          <p:cNvSpPr/>
          <p:nvPr/>
        </p:nvSpPr>
        <p:spPr>
          <a:xfrm>
            <a:off x="10947197" y="6473952"/>
            <a:ext cx="731520" cy="201168"/>
          </a:xfrm>
          <a:prstGeom prst="rect">
            <a:avLst/>
          </a:prstGeom>
          <a:noFill/>
          <a:ln/>
        </p:spPr>
        <p:txBody>
          <a:bodyPr wrap="square" lIns="0" tIns="0" rIns="0" bIns="0" rtlCol="0" anchor="ctr"/>
          <a:lstStyle/>
          <a:p>
            <a:pPr indent="0" marL="0">
              <a:buNone/>
            </a:pPr>
            <a:r>
              <a:rPr lang="en-US" sz="900" dirty="0">
                <a:solidFill>
                  <a:srgbClr val="465064"/>
                </a:solidFill>
              </a:rPr>
              <a:t>4 / 25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11403" y="557784"/>
            <a:ext cx="557784" cy="0"/>
          </a:xfrm>
          <a:prstGeom prst="line">
            <a:avLst/>
          </a:prstGeom>
          <a:noFill/>
          <a:ln w="25400">
            <a:solidFill>
              <a:srgbClr val="01258F"/>
            </a:solidFill>
            <a:prstDash val="solid"/>
          </a:ln>
        </p:spPr>
      </p:sp>
      <p:sp>
        <p:nvSpPr>
          <p:cNvPr id="4" name="Text 1"/>
          <p:cNvSpPr/>
          <p:nvPr/>
        </p:nvSpPr>
        <p:spPr>
          <a:xfrm>
            <a:off x="711403" y="713232"/>
            <a:ext cx="10771632" cy="228600"/>
          </a:xfrm>
          <a:prstGeom prst="rect">
            <a:avLst/>
          </a:prstGeom>
          <a:noFill/>
          <a:ln/>
        </p:spPr>
        <p:txBody>
          <a:bodyPr wrap="square" lIns="0" tIns="0" rIns="0" bIns="0" rtlCol="0" anchor="ctr"/>
          <a:lstStyle/>
          <a:p>
            <a:pPr indent="0" marL="0">
              <a:buNone/>
            </a:pPr>
            <a:r>
              <a:rPr lang="en-US" sz="1000" dirty="0">
                <a:solidFill>
                  <a:srgbClr val="01258F"/>
                </a:solidFill>
              </a:rPr>
              <a:t>04 / PLAN 2D COMPLET</a:t>
            </a:r>
            <a:endParaRPr lang="en-US" sz="1000" dirty="0"/>
          </a:p>
        </p:txBody>
      </p:sp>
      <p:sp>
        <p:nvSpPr>
          <p:cNvPr id="5" name="Text 2"/>
          <p:cNvSpPr/>
          <p:nvPr/>
        </p:nvSpPr>
        <p:spPr>
          <a:xfrm>
            <a:off x="685800" y="1051560"/>
            <a:ext cx="10771632" cy="512064"/>
          </a:xfrm>
          <a:prstGeom prst="rect">
            <a:avLst/>
          </a:prstGeom>
          <a:noFill/>
          <a:ln/>
        </p:spPr>
        <p:txBody>
          <a:bodyPr wrap="square" lIns="0" tIns="0" rIns="0" bIns="0" rtlCol="0" anchor="ctr">
            <a:normAutofit/>
          </a:bodyPr>
          <a:lstStyle/>
          <a:p>
            <a:pPr indent="0" marL="0">
              <a:buNone/>
            </a:pPr>
            <a:r>
              <a:rPr lang="en-US" sz="3100" dirty="0">
                <a:solidFill>
                  <a:srgbClr val="01258F"/>
                </a:solidFill>
                <a:latin typeface="Georgia" pitchFamily="34" charset="0"/>
                <a:ea typeface="Georgia" pitchFamily="34" charset="-122"/>
                <a:cs typeface="Georgia" pitchFamily="34" charset="-120"/>
              </a:rPr>
              <a:t>Toutes les tables du plan</a:t>
            </a:r>
            <a:endParaRPr lang="en-US" sz="3100" dirty="0"/>
          </a:p>
        </p:txBody>
      </p:sp>
      <p:sp>
        <p:nvSpPr>
          <p:cNvPr id="6" name="Text 3"/>
          <p:cNvSpPr/>
          <p:nvPr/>
        </p:nvSpPr>
        <p:spPr>
          <a:xfrm>
            <a:off x="711403" y="1801368"/>
            <a:ext cx="4978400" cy="4160520"/>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465064"/>
                </a:solidFill>
              </a:rPr>
              <a:t>T01 a T37 et BAR : 38 unites de reservation, dont 9</a:t>
            </a:r>
            <a:endParaRPr lang="en-US" sz="1700" dirty="0"/>
          </a:p>
          <a:p>
            <a:pPr indent="0" marL="0">
              <a:lnSpc>
                <a:spcPct val="110000"/>
              </a:lnSpc>
              <a:buNone/>
            </a:pPr>
            <a:r>
              <a:rPr lang="en-US" sz="1700" dirty="0">
                <a:solidFill>
                  <a:srgbClr val="465064"/>
                </a:solidFill>
              </a:rPr>
              <a:t>VIP.</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Filtre Toutes / Standard / VIP ; disponibilite par date,</a:t>
            </a:r>
            <a:endParaRPr lang="en-US" sz="1700" dirty="0"/>
          </a:p>
          <a:p>
            <a:pPr indent="0" marL="0">
              <a:lnSpc>
                <a:spcPct val="110000"/>
              </a:lnSpc>
              <a:buNone/>
            </a:pPr>
            <a:r>
              <a:rPr lang="en-US" sz="1700" dirty="0">
                <a:solidFill>
                  <a:srgbClr val="465064"/>
                </a:solidFill>
              </a:rPr>
              <a:t>service et convives.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Marqueurs distincts, popup et formulaire pre-rempli</a:t>
            </a:r>
            <a:endParaRPr lang="en-US" sz="1700" dirty="0"/>
          </a:p>
          <a:p>
            <a:pPr indent="0" marL="0">
              <a:lnSpc>
                <a:spcPct val="110000"/>
              </a:lnSpc>
              <a:buNone/>
            </a:pPr>
            <a:r>
              <a:rPr lang="en-US" sz="1700" dirty="0">
                <a:solidFill>
                  <a:srgbClr val="465064"/>
                </a:solidFill>
              </a:rPr>
              <a:t>; liste alternative sur mobile.</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BAR est un comptoir collectif indicatif, pas dix</a:t>
            </a:r>
            <a:endParaRPr lang="en-US" sz="1700" dirty="0"/>
          </a:p>
          <a:p>
            <a:pPr indent="0" marL="0">
              <a:lnSpc>
                <a:spcPct val="110000"/>
              </a:lnSpc>
              <a:buNone/>
            </a:pPr>
            <a:r>
              <a:rPr lang="en-US" sz="1700" dirty="0">
                <a:solidFill>
                  <a:srgbClr val="465064"/>
                </a:solidFill>
              </a:rPr>
              <a:t>sieges independants.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Plan, capacites et classement VIP sont a valider</a:t>
            </a:r>
            <a:endParaRPr lang="en-US" sz="1700" dirty="0"/>
          </a:p>
          <a:p>
            <a:pPr indent="0" marL="0">
              <a:lnSpc>
                <a:spcPct val="110000"/>
              </a:lnSpc>
              <a:buNone/>
            </a:pPr>
            <a:r>
              <a:rPr lang="en-US" sz="1700" dirty="0">
                <a:solidFill>
                  <a:srgbClr val="465064"/>
                </a:solidFill>
              </a:rPr>
              <a:t>avec la salle reelle.</a:t>
            </a:r>
            <a:endParaRPr lang="en-US" sz="1700" dirty="0"/>
          </a:p>
        </p:txBody>
      </p:sp>
      <p:sp>
        <p:nvSpPr>
          <p:cNvPr id="7" name="Text 4"/>
          <p:cNvSpPr/>
          <p:nvPr/>
        </p:nvSpPr>
        <p:spPr>
          <a:xfrm>
            <a:off x="711403" y="6473952"/>
            <a:ext cx="9144000" cy="201168"/>
          </a:xfrm>
          <a:prstGeom prst="rect">
            <a:avLst/>
          </a:prstGeom>
          <a:noFill/>
          <a:ln/>
        </p:spPr>
        <p:txBody>
          <a:bodyPr wrap="square" lIns="0" tIns="0" rIns="0" bIns="0" rtlCol="0" anchor="ctr"/>
          <a:lstStyle/>
          <a:p>
            <a:pPr indent="0" marL="0">
              <a:buNone/>
            </a:pPr>
            <a:r>
              <a:rPr lang="en-US" sz="900" dirty="0">
                <a:solidFill>
                  <a:srgbClr val="465064"/>
                </a:solidFill>
              </a:rPr>
              <a:t>GALI BLUE / Casablanca / Recette locale</a:t>
            </a:r>
            <a:endParaRPr lang="en-US" sz="900" dirty="0"/>
          </a:p>
        </p:txBody>
      </p:sp>
      <p:sp>
        <p:nvSpPr>
          <p:cNvPr id="8" name="Text 5"/>
          <p:cNvSpPr/>
          <p:nvPr/>
        </p:nvSpPr>
        <p:spPr>
          <a:xfrm>
            <a:off x="10947197" y="6473952"/>
            <a:ext cx="731520" cy="201168"/>
          </a:xfrm>
          <a:prstGeom prst="rect">
            <a:avLst/>
          </a:prstGeom>
          <a:noFill/>
          <a:ln/>
        </p:spPr>
        <p:txBody>
          <a:bodyPr wrap="square" lIns="0" tIns="0" rIns="0" bIns="0" rtlCol="0" anchor="ctr"/>
          <a:lstStyle/>
          <a:p>
            <a:pPr indent="0" marL="0">
              <a:buNone/>
            </a:pPr>
            <a:r>
              <a:rPr lang="en-US" sz="900" dirty="0">
                <a:solidFill>
                  <a:srgbClr val="465064"/>
                </a:solidFill>
              </a:rPr>
              <a:t>5 / 25</a:t>
            </a:r>
            <a:endParaRPr lang="en-US" sz="900" dirty="0"/>
          </a:p>
        </p:txBody>
      </p:sp>
      <p:pic>
        <p:nvPicPr>
          <p:cNvPr id="9" name="Image 0" descr="preencoded.png">    </p:cNvPr>
          <p:cNvPicPr>
            <a:picLocks noChangeAspect="1"/>
          </p:cNvPicPr>
          <p:nvPr/>
        </p:nvPicPr>
        <p:blipFill>
          <a:blip r:embed="rId1"/>
          <a:stretch>
            <a:fillRect/>
          </a:stretch>
        </p:blipFill>
        <p:spPr>
          <a:xfrm>
            <a:off x="6172200" y="2009942"/>
            <a:ext cx="5308600" cy="375251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11403" y="557784"/>
            <a:ext cx="557784" cy="0"/>
          </a:xfrm>
          <a:prstGeom prst="line">
            <a:avLst/>
          </a:prstGeom>
          <a:noFill/>
          <a:ln w="25400">
            <a:solidFill>
              <a:srgbClr val="01258F"/>
            </a:solidFill>
            <a:prstDash val="solid"/>
          </a:ln>
        </p:spPr>
      </p:sp>
      <p:sp>
        <p:nvSpPr>
          <p:cNvPr id="4" name="Text 1"/>
          <p:cNvSpPr/>
          <p:nvPr/>
        </p:nvSpPr>
        <p:spPr>
          <a:xfrm>
            <a:off x="711403" y="713232"/>
            <a:ext cx="10771632" cy="228600"/>
          </a:xfrm>
          <a:prstGeom prst="rect">
            <a:avLst/>
          </a:prstGeom>
          <a:noFill/>
          <a:ln/>
        </p:spPr>
        <p:txBody>
          <a:bodyPr wrap="square" lIns="0" tIns="0" rIns="0" bIns="0" rtlCol="0" anchor="ctr"/>
          <a:lstStyle/>
          <a:p>
            <a:pPr indent="0" marL="0">
              <a:buNone/>
            </a:pPr>
            <a:r>
              <a:rPr lang="en-US" sz="1000" dirty="0">
                <a:solidFill>
                  <a:srgbClr val="01258F"/>
                </a:solidFill>
              </a:rPr>
              <a:t>05 / CHOIX EXACT</a:t>
            </a:r>
            <a:endParaRPr lang="en-US" sz="1000" dirty="0"/>
          </a:p>
        </p:txBody>
      </p:sp>
      <p:sp>
        <p:nvSpPr>
          <p:cNvPr id="5" name="Text 2"/>
          <p:cNvSpPr/>
          <p:nvPr/>
        </p:nvSpPr>
        <p:spPr>
          <a:xfrm>
            <a:off x="685800" y="1051560"/>
            <a:ext cx="10771632" cy="512064"/>
          </a:xfrm>
          <a:prstGeom prst="rect">
            <a:avLst/>
          </a:prstGeom>
          <a:noFill/>
          <a:ln/>
        </p:spPr>
        <p:txBody>
          <a:bodyPr wrap="square" lIns="0" tIns="0" rIns="0" bIns="0" rtlCol="0" anchor="ctr">
            <a:normAutofit/>
          </a:bodyPr>
          <a:lstStyle/>
          <a:p>
            <a:pPr indent="0" marL="0">
              <a:buNone/>
            </a:pPr>
            <a:r>
              <a:rPr lang="en-US" sz="3100" dirty="0">
                <a:solidFill>
                  <a:srgbClr val="01258F"/>
                </a:solidFill>
                <a:latin typeface="Georgia" pitchFamily="34" charset="0"/>
                <a:ea typeface="Georgia" pitchFamily="34" charset="-122"/>
                <a:cs typeface="Georgia" pitchFamily="34" charset="-120"/>
              </a:rPr>
              <a:t>Du plan a la demande</a:t>
            </a:r>
            <a:endParaRPr lang="en-US" sz="3100" dirty="0"/>
          </a:p>
        </p:txBody>
      </p:sp>
      <p:sp>
        <p:nvSpPr>
          <p:cNvPr id="6" name="Text 3"/>
          <p:cNvSpPr/>
          <p:nvPr/>
        </p:nvSpPr>
        <p:spPr>
          <a:xfrm>
            <a:off x="711403" y="1801368"/>
            <a:ext cx="10769600" cy="4160520"/>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465064"/>
                </a:solidFill>
              </a:rPr>
              <a:t>1. Choisir date, convives, service et eventuellement categorie.</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2. Ouvrir une table disponible puis Continuer ; une table indisponible ne propose pas de reservation.</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3. Le formulaire conserve la table, la date, le service, les convives et la categorie reelle.</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4. La demande conserve la table souhaitee mais ne bloque pas encore cette table.</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5. A l'appel, seule la table exacte peut etre confirmee si elle est encore compatible et libre.</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En cas de conflit : refus explicite, aucune substitution silencieuse. Annuler/recreer si le souhait change.</a:t>
            </a:r>
            <a:endParaRPr lang="en-US" sz="1700" dirty="0"/>
          </a:p>
        </p:txBody>
      </p:sp>
      <p:sp>
        <p:nvSpPr>
          <p:cNvPr id="7" name="Text 4"/>
          <p:cNvSpPr/>
          <p:nvPr/>
        </p:nvSpPr>
        <p:spPr>
          <a:xfrm>
            <a:off x="711403" y="6473952"/>
            <a:ext cx="9144000" cy="201168"/>
          </a:xfrm>
          <a:prstGeom prst="rect">
            <a:avLst/>
          </a:prstGeom>
          <a:noFill/>
          <a:ln/>
        </p:spPr>
        <p:txBody>
          <a:bodyPr wrap="square" lIns="0" tIns="0" rIns="0" bIns="0" rtlCol="0" anchor="ctr"/>
          <a:lstStyle/>
          <a:p>
            <a:pPr indent="0" marL="0">
              <a:buNone/>
            </a:pPr>
            <a:r>
              <a:rPr lang="en-US" sz="900" dirty="0">
                <a:solidFill>
                  <a:srgbClr val="465064"/>
                </a:solidFill>
              </a:rPr>
              <a:t>GALI BLUE / Casablanca / Recette locale</a:t>
            </a:r>
            <a:endParaRPr lang="en-US" sz="900" dirty="0"/>
          </a:p>
        </p:txBody>
      </p:sp>
      <p:sp>
        <p:nvSpPr>
          <p:cNvPr id="8" name="Text 5"/>
          <p:cNvSpPr/>
          <p:nvPr/>
        </p:nvSpPr>
        <p:spPr>
          <a:xfrm>
            <a:off x="10947197" y="6473952"/>
            <a:ext cx="731520" cy="201168"/>
          </a:xfrm>
          <a:prstGeom prst="rect">
            <a:avLst/>
          </a:prstGeom>
          <a:noFill/>
          <a:ln/>
        </p:spPr>
        <p:txBody>
          <a:bodyPr wrap="square" lIns="0" tIns="0" rIns="0" bIns="0" rtlCol="0" anchor="ctr"/>
          <a:lstStyle/>
          <a:p>
            <a:pPr indent="0" marL="0">
              <a:buNone/>
            </a:pPr>
            <a:r>
              <a:rPr lang="en-US" sz="900" dirty="0">
                <a:solidFill>
                  <a:srgbClr val="465064"/>
                </a:solidFill>
              </a:rPr>
              <a:t>6 / 25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11403" y="557784"/>
            <a:ext cx="557784" cy="0"/>
          </a:xfrm>
          <a:prstGeom prst="line">
            <a:avLst/>
          </a:prstGeom>
          <a:noFill/>
          <a:ln w="25400">
            <a:solidFill>
              <a:srgbClr val="01258F"/>
            </a:solidFill>
            <a:prstDash val="solid"/>
          </a:ln>
        </p:spPr>
      </p:sp>
      <p:sp>
        <p:nvSpPr>
          <p:cNvPr id="4" name="Text 1"/>
          <p:cNvSpPr/>
          <p:nvPr/>
        </p:nvSpPr>
        <p:spPr>
          <a:xfrm>
            <a:off x="711403" y="713232"/>
            <a:ext cx="10771632" cy="228600"/>
          </a:xfrm>
          <a:prstGeom prst="rect">
            <a:avLst/>
          </a:prstGeom>
          <a:noFill/>
          <a:ln/>
        </p:spPr>
        <p:txBody>
          <a:bodyPr wrap="square" lIns="0" tIns="0" rIns="0" bIns="0" rtlCol="0" anchor="ctr"/>
          <a:lstStyle/>
          <a:p>
            <a:pPr indent="0" marL="0">
              <a:buNone/>
            </a:pPr>
            <a:r>
              <a:rPr lang="en-US" sz="1000" dirty="0">
                <a:solidFill>
                  <a:srgbClr val="01258F"/>
                </a:solidFill>
              </a:rPr>
              <a:t>06 / ETATS</a:t>
            </a:r>
            <a:endParaRPr lang="en-US" sz="1000" dirty="0"/>
          </a:p>
        </p:txBody>
      </p:sp>
      <p:sp>
        <p:nvSpPr>
          <p:cNvPr id="5" name="Text 2"/>
          <p:cNvSpPr/>
          <p:nvPr/>
        </p:nvSpPr>
        <p:spPr>
          <a:xfrm>
            <a:off x="685800" y="1051560"/>
            <a:ext cx="10771632" cy="512064"/>
          </a:xfrm>
          <a:prstGeom prst="rect">
            <a:avLst/>
          </a:prstGeom>
          <a:noFill/>
          <a:ln/>
        </p:spPr>
        <p:txBody>
          <a:bodyPr wrap="square" lIns="0" tIns="0" rIns="0" bIns="0" rtlCol="0" anchor="ctr">
            <a:normAutofit/>
          </a:bodyPr>
          <a:lstStyle/>
          <a:p>
            <a:pPr indent="0" marL="0">
              <a:buNone/>
            </a:pPr>
            <a:r>
              <a:rPr lang="en-US" sz="3100" dirty="0">
                <a:solidFill>
                  <a:srgbClr val="01258F"/>
                </a:solidFill>
                <a:latin typeface="Georgia" pitchFamily="34" charset="0"/>
                <a:ea typeface="Georgia" pitchFamily="34" charset="-122"/>
                <a:cs typeface="Georgia" pitchFamily="34" charset="-120"/>
              </a:rPr>
              <a:t>Un cycle lisible par appel</a:t>
            </a:r>
            <a:endParaRPr lang="en-US" sz="3100" dirty="0"/>
          </a:p>
        </p:txBody>
      </p:sp>
      <p:sp>
        <p:nvSpPr>
          <p:cNvPr id="6" name="Text 3"/>
          <p:cNvSpPr/>
          <p:nvPr/>
        </p:nvSpPr>
        <p:spPr>
          <a:xfrm>
            <a:off x="711403" y="1801368"/>
            <a:ext cx="10769600" cy="4160520"/>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465064"/>
                </a:solidFill>
              </a:rPr>
              <a:t>EN ATTENTE D'APPEL &gt; CONFIRMEE PAR APPEL &gt; CLIENTS INSTALLES &gt; TERMINEE</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CALL_PENDING &gt; RESERVED &gt; ARRIVED &gt; COMPLETED</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Sans reponse : A rappeler, tentative et dernier appel traces, prochain rappel avant le service.</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Annulation : CANCELLED ; absence apres le delai de grace : NO_SHOW.</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La confirmation et l'affectation sont atomiques. Les demandes en attente ne bloquent rien.</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Les anciens statuts restent lisibles pour l'historique, sans revenir au parcours provisoire.</a:t>
            </a:r>
            <a:endParaRPr lang="en-US" sz="1700" dirty="0"/>
          </a:p>
        </p:txBody>
      </p:sp>
      <p:sp>
        <p:nvSpPr>
          <p:cNvPr id="7" name="Text 4"/>
          <p:cNvSpPr/>
          <p:nvPr/>
        </p:nvSpPr>
        <p:spPr>
          <a:xfrm>
            <a:off x="711403" y="6473952"/>
            <a:ext cx="9144000" cy="201168"/>
          </a:xfrm>
          <a:prstGeom prst="rect">
            <a:avLst/>
          </a:prstGeom>
          <a:noFill/>
          <a:ln/>
        </p:spPr>
        <p:txBody>
          <a:bodyPr wrap="square" lIns="0" tIns="0" rIns="0" bIns="0" rtlCol="0" anchor="ctr"/>
          <a:lstStyle/>
          <a:p>
            <a:pPr indent="0" marL="0">
              <a:buNone/>
            </a:pPr>
            <a:r>
              <a:rPr lang="en-US" sz="900" dirty="0">
                <a:solidFill>
                  <a:srgbClr val="465064"/>
                </a:solidFill>
              </a:rPr>
              <a:t>GALI BLUE / Casablanca / Recette locale</a:t>
            </a:r>
            <a:endParaRPr lang="en-US" sz="900" dirty="0"/>
          </a:p>
        </p:txBody>
      </p:sp>
      <p:sp>
        <p:nvSpPr>
          <p:cNvPr id="8" name="Text 5"/>
          <p:cNvSpPr/>
          <p:nvPr/>
        </p:nvSpPr>
        <p:spPr>
          <a:xfrm>
            <a:off x="10947197" y="6473952"/>
            <a:ext cx="731520" cy="201168"/>
          </a:xfrm>
          <a:prstGeom prst="rect">
            <a:avLst/>
          </a:prstGeom>
          <a:noFill/>
          <a:ln/>
        </p:spPr>
        <p:txBody>
          <a:bodyPr wrap="square" lIns="0" tIns="0" rIns="0" bIns="0" rtlCol="0" anchor="ctr"/>
          <a:lstStyle/>
          <a:p>
            <a:pPr indent="0" marL="0">
              <a:buNone/>
            </a:pPr>
            <a:r>
              <a:rPr lang="en-US" sz="900" dirty="0">
                <a:solidFill>
                  <a:srgbClr val="465064"/>
                </a:solidFill>
              </a:rPr>
              <a:t>7 / 25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11403" y="557784"/>
            <a:ext cx="557784" cy="0"/>
          </a:xfrm>
          <a:prstGeom prst="line">
            <a:avLst/>
          </a:prstGeom>
          <a:noFill/>
          <a:ln w="25400">
            <a:solidFill>
              <a:srgbClr val="01258F"/>
            </a:solidFill>
            <a:prstDash val="solid"/>
          </a:ln>
        </p:spPr>
      </p:sp>
      <p:sp>
        <p:nvSpPr>
          <p:cNvPr id="4" name="Text 1"/>
          <p:cNvSpPr/>
          <p:nvPr/>
        </p:nvSpPr>
        <p:spPr>
          <a:xfrm>
            <a:off x="711403" y="713232"/>
            <a:ext cx="10771632" cy="228600"/>
          </a:xfrm>
          <a:prstGeom prst="rect">
            <a:avLst/>
          </a:prstGeom>
          <a:noFill/>
          <a:ln/>
        </p:spPr>
        <p:txBody>
          <a:bodyPr wrap="square" lIns="0" tIns="0" rIns="0" bIns="0" rtlCol="0" anchor="ctr"/>
          <a:lstStyle/>
          <a:p>
            <a:pPr indent="0" marL="0">
              <a:buNone/>
            </a:pPr>
            <a:r>
              <a:rPr lang="en-US" sz="1000" dirty="0">
                <a:solidFill>
                  <a:srgbClr val="01258F"/>
                </a:solidFill>
              </a:rPr>
              <a:t>07 / FILE D'APPELS</a:t>
            </a:r>
            <a:endParaRPr lang="en-US" sz="1000" dirty="0"/>
          </a:p>
        </p:txBody>
      </p:sp>
      <p:sp>
        <p:nvSpPr>
          <p:cNvPr id="5" name="Text 2"/>
          <p:cNvSpPr/>
          <p:nvPr/>
        </p:nvSpPr>
        <p:spPr>
          <a:xfrm>
            <a:off x="685800" y="1051560"/>
            <a:ext cx="10771632" cy="512064"/>
          </a:xfrm>
          <a:prstGeom prst="rect">
            <a:avLst/>
          </a:prstGeom>
          <a:noFill/>
          <a:ln/>
        </p:spPr>
        <p:txBody>
          <a:bodyPr wrap="square" lIns="0" tIns="0" rIns="0" bIns="0" rtlCol="0" anchor="ctr">
            <a:normAutofit/>
          </a:bodyPr>
          <a:lstStyle/>
          <a:p>
            <a:pPr indent="0" marL="0">
              <a:buNone/>
            </a:pPr>
            <a:r>
              <a:rPr lang="en-US" sz="3100" dirty="0">
                <a:solidFill>
                  <a:srgbClr val="01258F"/>
                </a:solidFill>
                <a:latin typeface="Georgia" pitchFamily="34" charset="0"/>
                <a:ea typeface="Georgia" pitchFamily="34" charset="-122"/>
                <a:cs typeface="Georgia" pitchFamily="34" charset="-120"/>
              </a:rPr>
              <a:t>Le travail de l'accueil</a:t>
            </a:r>
            <a:endParaRPr lang="en-US" sz="3100" dirty="0"/>
          </a:p>
        </p:txBody>
      </p:sp>
      <p:sp>
        <p:nvSpPr>
          <p:cNvPr id="6" name="Text 3"/>
          <p:cNvSpPr/>
          <p:nvPr/>
        </p:nvSpPr>
        <p:spPr>
          <a:xfrm>
            <a:off x="711403" y="1801368"/>
            <a:ext cx="10769600" cy="4160520"/>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465064"/>
                </a:solidFill>
              </a:rPr>
              <a:t>Ouvrir la file des demandes TO_CALL ou NO_ANSWER ; les rappels sont classes par echeance.</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Consulter client, telephone, service, convives, Standard/VIP et table souhaitee.</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Sans reponse : enregistrer l'essai et choisir le prochain rappel ; aucune occupation creee.</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Client confirme : Confirmer par telephone recontrole les disponibilites et affecte les tables.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Client annule : enregistrer l'annulation et fermer le dossier.</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Chaque action est tracee ; une confirmation en conflit est refusee et doit etre resolue avec le client.</a:t>
            </a:r>
            <a:endParaRPr lang="en-US" sz="1700" dirty="0"/>
          </a:p>
        </p:txBody>
      </p:sp>
      <p:sp>
        <p:nvSpPr>
          <p:cNvPr id="7" name="Text 4"/>
          <p:cNvSpPr/>
          <p:nvPr/>
        </p:nvSpPr>
        <p:spPr>
          <a:xfrm>
            <a:off x="711403" y="6473952"/>
            <a:ext cx="9144000" cy="201168"/>
          </a:xfrm>
          <a:prstGeom prst="rect">
            <a:avLst/>
          </a:prstGeom>
          <a:noFill/>
          <a:ln/>
        </p:spPr>
        <p:txBody>
          <a:bodyPr wrap="square" lIns="0" tIns="0" rIns="0" bIns="0" rtlCol="0" anchor="ctr"/>
          <a:lstStyle/>
          <a:p>
            <a:pPr indent="0" marL="0">
              <a:buNone/>
            </a:pPr>
            <a:r>
              <a:rPr lang="en-US" sz="900" dirty="0">
                <a:solidFill>
                  <a:srgbClr val="465064"/>
                </a:solidFill>
              </a:rPr>
              <a:t>GALI BLUE / Casablanca / Recette locale</a:t>
            </a:r>
            <a:endParaRPr lang="en-US" sz="900" dirty="0"/>
          </a:p>
        </p:txBody>
      </p:sp>
      <p:sp>
        <p:nvSpPr>
          <p:cNvPr id="8" name="Text 5"/>
          <p:cNvSpPr/>
          <p:nvPr/>
        </p:nvSpPr>
        <p:spPr>
          <a:xfrm>
            <a:off x="10947197" y="6473952"/>
            <a:ext cx="731520" cy="201168"/>
          </a:xfrm>
          <a:prstGeom prst="rect">
            <a:avLst/>
          </a:prstGeom>
          <a:noFill/>
          <a:ln/>
        </p:spPr>
        <p:txBody>
          <a:bodyPr wrap="square" lIns="0" tIns="0" rIns="0" bIns="0" rtlCol="0" anchor="ctr"/>
          <a:lstStyle/>
          <a:p>
            <a:pPr indent="0" marL="0">
              <a:buNone/>
            </a:pPr>
            <a:r>
              <a:rPr lang="en-US" sz="900" dirty="0">
                <a:solidFill>
                  <a:srgbClr val="465064"/>
                </a:solidFill>
              </a:rPr>
              <a:t>8 / 25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11403" y="557784"/>
            <a:ext cx="557784" cy="0"/>
          </a:xfrm>
          <a:prstGeom prst="line">
            <a:avLst/>
          </a:prstGeom>
          <a:noFill/>
          <a:ln w="25400">
            <a:solidFill>
              <a:srgbClr val="01258F"/>
            </a:solidFill>
            <a:prstDash val="solid"/>
          </a:ln>
        </p:spPr>
      </p:sp>
      <p:sp>
        <p:nvSpPr>
          <p:cNvPr id="4" name="Text 1"/>
          <p:cNvSpPr/>
          <p:nvPr/>
        </p:nvSpPr>
        <p:spPr>
          <a:xfrm>
            <a:off x="711403" y="713232"/>
            <a:ext cx="10771632" cy="228600"/>
          </a:xfrm>
          <a:prstGeom prst="rect">
            <a:avLst/>
          </a:prstGeom>
          <a:noFill/>
          <a:ln/>
        </p:spPr>
        <p:txBody>
          <a:bodyPr wrap="square" lIns="0" tIns="0" rIns="0" bIns="0" rtlCol="0" anchor="ctr"/>
          <a:lstStyle/>
          <a:p>
            <a:pPr indent="0" marL="0">
              <a:buNone/>
            </a:pPr>
            <a:r>
              <a:rPr lang="en-US" sz="1000" dirty="0">
                <a:solidFill>
                  <a:srgbClr val="01258F"/>
                </a:solidFill>
              </a:rPr>
              <a:t>08 / CONCURRENCE</a:t>
            </a:r>
            <a:endParaRPr lang="en-US" sz="1000" dirty="0"/>
          </a:p>
        </p:txBody>
      </p:sp>
      <p:sp>
        <p:nvSpPr>
          <p:cNvPr id="5" name="Text 2"/>
          <p:cNvSpPr/>
          <p:nvPr/>
        </p:nvSpPr>
        <p:spPr>
          <a:xfrm>
            <a:off x="685800" y="1051560"/>
            <a:ext cx="10771632" cy="512064"/>
          </a:xfrm>
          <a:prstGeom prst="rect">
            <a:avLst/>
          </a:prstGeom>
          <a:noFill/>
          <a:ln/>
        </p:spPr>
        <p:txBody>
          <a:bodyPr wrap="square" lIns="0" tIns="0" rIns="0" bIns="0" rtlCol="0" anchor="ctr">
            <a:normAutofit/>
          </a:bodyPr>
          <a:lstStyle/>
          <a:p>
            <a:pPr indent="0" marL="0">
              <a:buNone/>
            </a:pPr>
            <a:r>
              <a:rPr lang="en-US" sz="3100" dirty="0">
                <a:solidFill>
                  <a:srgbClr val="01258F"/>
                </a:solidFill>
                <a:latin typeface="Georgia" pitchFamily="34" charset="0"/>
                <a:ea typeface="Georgia" pitchFamily="34" charset="-122"/>
                <a:cs typeface="Georgia" pitchFamily="34" charset="-120"/>
              </a:rPr>
              <a:t>Plusieurs clients, une derniere table</a:t>
            </a:r>
            <a:endParaRPr lang="en-US" sz="3100" dirty="0"/>
          </a:p>
        </p:txBody>
      </p:sp>
      <p:sp>
        <p:nvSpPr>
          <p:cNvPr id="6" name="Text 3"/>
          <p:cNvSpPr/>
          <p:nvPr/>
        </p:nvSpPr>
        <p:spPr>
          <a:xfrm>
            <a:off x="711403" y="1801368"/>
            <a:ext cx="10769600" cy="4160520"/>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465064"/>
                </a:solidFill>
              </a:rPr>
              <a:t>Client A : demande classique VIP. Client B : choisit la derniere VIP sur le plan.</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Client C : fait aussi une demande. Les trois demandes peuvent rester en attente.</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L'accueil confirme A : transaction, recontrole et affectation de la VIP.</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Une confirmation concurrente de B ou C est refusee : aucun double blocage.</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Le double clic d'un meme client conserve une seule demande grace a la cle d'idempotence.</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La disponibilite est toujours reverifiee lors de la confirmation, pas seulement dans le navigateur.</a:t>
            </a:r>
            <a:endParaRPr lang="en-US" sz="1700" dirty="0"/>
          </a:p>
        </p:txBody>
      </p:sp>
      <p:sp>
        <p:nvSpPr>
          <p:cNvPr id="7" name="Text 4"/>
          <p:cNvSpPr/>
          <p:nvPr/>
        </p:nvSpPr>
        <p:spPr>
          <a:xfrm>
            <a:off x="711403" y="6473952"/>
            <a:ext cx="9144000" cy="201168"/>
          </a:xfrm>
          <a:prstGeom prst="rect">
            <a:avLst/>
          </a:prstGeom>
          <a:noFill/>
          <a:ln/>
        </p:spPr>
        <p:txBody>
          <a:bodyPr wrap="square" lIns="0" tIns="0" rIns="0" bIns="0" rtlCol="0" anchor="ctr"/>
          <a:lstStyle/>
          <a:p>
            <a:pPr indent="0" marL="0">
              <a:buNone/>
            </a:pPr>
            <a:r>
              <a:rPr lang="en-US" sz="900" dirty="0">
                <a:solidFill>
                  <a:srgbClr val="465064"/>
                </a:solidFill>
              </a:rPr>
              <a:t>GALI BLUE / Casablanca / Recette locale</a:t>
            </a:r>
            <a:endParaRPr lang="en-US" sz="900" dirty="0"/>
          </a:p>
        </p:txBody>
      </p:sp>
      <p:sp>
        <p:nvSpPr>
          <p:cNvPr id="8" name="Text 5"/>
          <p:cNvSpPr/>
          <p:nvPr/>
        </p:nvSpPr>
        <p:spPr>
          <a:xfrm>
            <a:off x="10947197" y="6473952"/>
            <a:ext cx="731520" cy="201168"/>
          </a:xfrm>
          <a:prstGeom prst="rect">
            <a:avLst/>
          </a:prstGeom>
          <a:noFill/>
          <a:ln/>
        </p:spPr>
        <p:txBody>
          <a:bodyPr wrap="square" lIns="0" tIns="0" rIns="0" bIns="0" rtlCol="0" anchor="ctr"/>
          <a:lstStyle/>
          <a:p>
            <a:pPr indent="0" marL="0">
              <a:buNone/>
            </a:pPr>
            <a:r>
              <a:rPr lang="en-US" sz="900" dirty="0">
                <a:solidFill>
                  <a:srgbClr val="465064"/>
                </a:solidFill>
              </a:rPr>
              <a:t>9 / 25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11403" y="557784"/>
            <a:ext cx="557784" cy="0"/>
          </a:xfrm>
          <a:prstGeom prst="line">
            <a:avLst/>
          </a:prstGeom>
          <a:noFill/>
          <a:ln w="25400">
            <a:solidFill>
              <a:srgbClr val="01258F"/>
            </a:solidFill>
            <a:prstDash val="solid"/>
          </a:ln>
        </p:spPr>
      </p:sp>
      <p:sp>
        <p:nvSpPr>
          <p:cNvPr id="4" name="Text 1"/>
          <p:cNvSpPr/>
          <p:nvPr/>
        </p:nvSpPr>
        <p:spPr>
          <a:xfrm>
            <a:off x="711403" y="713232"/>
            <a:ext cx="10771632" cy="228600"/>
          </a:xfrm>
          <a:prstGeom prst="rect">
            <a:avLst/>
          </a:prstGeom>
          <a:noFill/>
          <a:ln/>
        </p:spPr>
        <p:txBody>
          <a:bodyPr wrap="square" lIns="0" tIns="0" rIns="0" bIns="0" rtlCol="0" anchor="ctr"/>
          <a:lstStyle/>
          <a:p>
            <a:pPr indent="0" marL="0">
              <a:buNone/>
            </a:pPr>
            <a:r>
              <a:rPr lang="en-US" sz="1000" dirty="0">
                <a:solidFill>
                  <a:srgbClr val="01258F"/>
                </a:solidFill>
              </a:rPr>
              <a:t>09 / SALLE</a:t>
            </a:r>
            <a:endParaRPr lang="en-US" sz="1000" dirty="0"/>
          </a:p>
        </p:txBody>
      </p:sp>
      <p:sp>
        <p:nvSpPr>
          <p:cNvPr id="5" name="Text 2"/>
          <p:cNvSpPr/>
          <p:nvPr/>
        </p:nvSpPr>
        <p:spPr>
          <a:xfrm>
            <a:off x="685800" y="1051560"/>
            <a:ext cx="10771632" cy="512064"/>
          </a:xfrm>
          <a:prstGeom prst="rect">
            <a:avLst/>
          </a:prstGeom>
          <a:noFill/>
          <a:ln/>
        </p:spPr>
        <p:txBody>
          <a:bodyPr wrap="square" lIns="0" tIns="0" rIns="0" bIns="0" rtlCol="0" anchor="ctr">
            <a:normAutofit/>
          </a:bodyPr>
          <a:lstStyle/>
          <a:p>
            <a:pPr indent="0" marL="0">
              <a:buNone/>
            </a:pPr>
            <a:r>
              <a:rPr lang="en-US" sz="3100" dirty="0">
                <a:solidFill>
                  <a:srgbClr val="01258F"/>
                </a:solidFill>
                <a:latin typeface="Georgia" pitchFamily="34" charset="0"/>
                <a:ea typeface="Georgia" pitchFamily="34" charset="-122"/>
                <a:cs typeface="Georgia" pitchFamily="34" charset="-120"/>
              </a:rPr>
              <a:t>Arrivee, depart et exceptions</a:t>
            </a:r>
            <a:endParaRPr lang="en-US" sz="3100" dirty="0"/>
          </a:p>
        </p:txBody>
      </p:sp>
      <p:sp>
        <p:nvSpPr>
          <p:cNvPr id="6" name="Text 3"/>
          <p:cNvSpPr/>
          <p:nvPr/>
        </p:nvSpPr>
        <p:spPr>
          <a:xfrm>
            <a:off x="711403" y="1801368"/>
            <a:ext cx="10769600" cy="4160520"/>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465064"/>
                </a:solidFill>
              </a:rPr>
              <a:t>Clients installes : action possible dans la fenetre autorisee, jusqu'a 60 minutes avant le service.</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Terminee : depart enregistre ; la table reste reservee pendant le delai de preparation.</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Clients absents : action autorisee seulement apres le delai de grace, puis capacite liberee.</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Annulee : dossier ferme et capacite liberee ; les etats terminaux ne se reouvrent pas.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SERVICE ne peut enregistrer arrivee/depart que sur ses reservations affectees.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Modifier date ou categorie : annuler et creer une nouvelle demande ; aucun report automatique.</a:t>
            </a:r>
            <a:endParaRPr lang="en-US" sz="1700" dirty="0"/>
          </a:p>
        </p:txBody>
      </p:sp>
      <p:sp>
        <p:nvSpPr>
          <p:cNvPr id="7" name="Text 4"/>
          <p:cNvSpPr/>
          <p:nvPr/>
        </p:nvSpPr>
        <p:spPr>
          <a:xfrm>
            <a:off x="711403" y="6473952"/>
            <a:ext cx="9144000" cy="201168"/>
          </a:xfrm>
          <a:prstGeom prst="rect">
            <a:avLst/>
          </a:prstGeom>
          <a:noFill/>
          <a:ln/>
        </p:spPr>
        <p:txBody>
          <a:bodyPr wrap="square" lIns="0" tIns="0" rIns="0" bIns="0" rtlCol="0" anchor="ctr"/>
          <a:lstStyle/>
          <a:p>
            <a:pPr indent="0" marL="0">
              <a:buNone/>
            </a:pPr>
            <a:r>
              <a:rPr lang="en-US" sz="900" dirty="0">
                <a:solidFill>
                  <a:srgbClr val="465064"/>
                </a:solidFill>
              </a:rPr>
              <a:t>GALI BLUE / Casablanca / Recette locale</a:t>
            </a:r>
            <a:endParaRPr lang="en-US" sz="900" dirty="0"/>
          </a:p>
        </p:txBody>
      </p:sp>
      <p:sp>
        <p:nvSpPr>
          <p:cNvPr id="8" name="Text 5"/>
          <p:cNvSpPr/>
          <p:nvPr/>
        </p:nvSpPr>
        <p:spPr>
          <a:xfrm>
            <a:off x="10947197" y="6473952"/>
            <a:ext cx="731520" cy="201168"/>
          </a:xfrm>
          <a:prstGeom prst="rect">
            <a:avLst/>
          </a:prstGeom>
          <a:noFill/>
          <a:ln/>
        </p:spPr>
        <p:txBody>
          <a:bodyPr wrap="square" lIns="0" tIns="0" rIns="0" bIns="0" rtlCol="0" anchor="ctr"/>
          <a:lstStyle/>
          <a:p>
            <a:pPr indent="0" marL="0">
              <a:buNone/>
            </a:pPr>
            <a:r>
              <a:rPr lang="en-US" sz="900" dirty="0">
                <a:solidFill>
                  <a:srgbClr val="465064"/>
                </a:solidFill>
              </a:rPr>
              <a:t>10 / 25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11403" y="557784"/>
            <a:ext cx="557784" cy="0"/>
          </a:xfrm>
          <a:prstGeom prst="line">
            <a:avLst/>
          </a:prstGeom>
          <a:noFill/>
          <a:ln w="25400">
            <a:solidFill>
              <a:srgbClr val="01258F"/>
            </a:solidFill>
            <a:prstDash val="solid"/>
          </a:ln>
        </p:spPr>
      </p:sp>
      <p:sp>
        <p:nvSpPr>
          <p:cNvPr id="4" name="Text 1"/>
          <p:cNvSpPr/>
          <p:nvPr/>
        </p:nvSpPr>
        <p:spPr>
          <a:xfrm>
            <a:off x="711403" y="713232"/>
            <a:ext cx="10771632" cy="228600"/>
          </a:xfrm>
          <a:prstGeom prst="rect">
            <a:avLst/>
          </a:prstGeom>
          <a:noFill/>
          <a:ln/>
        </p:spPr>
        <p:txBody>
          <a:bodyPr wrap="square" lIns="0" tIns="0" rIns="0" bIns="0" rtlCol="0" anchor="ctr"/>
          <a:lstStyle/>
          <a:p>
            <a:pPr indent="0" marL="0">
              <a:buNone/>
            </a:pPr>
            <a:r>
              <a:rPr lang="en-US" sz="1000" dirty="0">
                <a:solidFill>
                  <a:srgbClr val="01258F"/>
                </a:solidFill>
              </a:rPr>
              <a:t>10 / CAISSE</a:t>
            </a:r>
            <a:endParaRPr lang="en-US" sz="1000" dirty="0"/>
          </a:p>
        </p:txBody>
      </p:sp>
      <p:sp>
        <p:nvSpPr>
          <p:cNvPr id="5" name="Text 2"/>
          <p:cNvSpPr/>
          <p:nvPr/>
        </p:nvSpPr>
        <p:spPr>
          <a:xfrm>
            <a:off x="685800" y="1051560"/>
            <a:ext cx="10771632" cy="512064"/>
          </a:xfrm>
          <a:prstGeom prst="rect">
            <a:avLst/>
          </a:prstGeom>
          <a:noFill/>
          <a:ln/>
        </p:spPr>
        <p:txBody>
          <a:bodyPr wrap="square" lIns="0" tIns="0" rIns="0" bIns="0" rtlCol="0" anchor="ctr">
            <a:normAutofit/>
          </a:bodyPr>
          <a:lstStyle/>
          <a:p>
            <a:pPr indent="0" marL="0">
              <a:buNone/>
            </a:pPr>
            <a:r>
              <a:rPr lang="en-US" sz="3100" dirty="0">
                <a:solidFill>
                  <a:srgbClr val="01258F"/>
                </a:solidFill>
                <a:latin typeface="Georgia" pitchFamily="34" charset="0"/>
                <a:ea typeface="Georgia" pitchFamily="34" charset="-122"/>
                <a:cs typeface="Georgia" pitchFamily="34" charset="-120"/>
              </a:rPr>
              <a:t>Paiement au restaurant</a:t>
            </a:r>
            <a:endParaRPr lang="en-US" sz="3100" dirty="0"/>
          </a:p>
        </p:txBody>
      </p:sp>
      <p:sp>
        <p:nvSpPr>
          <p:cNvPr id="6" name="Text 3"/>
          <p:cNvSpPr/>
          <p:nvPr/>
        </p:nvSpPr>
        <p:spPr>
          <a:xfrm>
            <a:off x="711403" y="1801368"/>
            <a:ext cx="10769600" cy="4160520"/>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465064"/>
                </a:solidFill>
              </a:rPr>
              <a:t>Aucun encaissement a la demande ni a la confirmation telephonique.</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Encaissement manuel : ADMIN, MANAGER ou CASHIER, apres arrivee, montant positif, une seule fois.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Paiement et reservation sont distincts : payer ne termine pas le service.</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Annulation deja payee : traitement du remboursement separe, jamais un faux remboursement automatique.</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CMI est desactive. Aucun paiement en ligne reel ou simule n'est disponible.</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La reduction configuree ne concerne que le futur paiement en ligne, jamais le paiement sur place.</a:t>
            </a:r>
            <a:endParaRPr lang="en-US" sz="1700" dirty="0"/>
          </a:p>
        </p:txBody>
      </p:sp>
      <p:sp>
        <p:nvSpPr>
          <p:cNvPr id="7" name="Text 4"/>
          <p:cNvSpPr/>
          <p:nvPr/>
        </p:nvSpPr>
        <p:spPr>
          <a:xfrm>
            <a:off x="711403" y="6473952"/>
            <a:ext cx="9144000" cy="201168"/>
          </a:xfrm>
          <a:prstGeom prst="rect">
            <a:avLst/>
          </a:prstGeom>
          <a:noFill/>
          <a:ln/>
        </p:spPr>
        <p:txBody>
          <a:bodyPr wrap="square" lIns="0" tIns="0" rIns="0" bIns="0" rtlCol="0" anchor="ctr"/>
          <a:lstStyle/>
          <a:p>
            <a:pPr indent="0" marL="0">
              <a:buNone/>
            </a:pPr>
            <a:r>
              <a:rPr lang="en-US" sz="900" dirty="0">
                <a:solidFill>
                  <a:srgbClr val="465064"/>
                </a:solidFill>
              </a:rPr>
              <a:t>GALI BLUE / Casablanca / Recette locale</a:t>
            </a:r>
            <a:endParaRPr lang="en-US" sz="900" dirty="0"/>
          </a:p>
        </p:txBody>
      </p:sp>
      <p:sp>
        <p:nvSpPr>
          <p:cNvPr id="8" name="Text 5"/>
          <p:cNvSpPr/>
          <p:nvPr/>
        </p:nvSpPr>
        <p:spPr>
          <a:xfrm>
            <a:off x="10947197" y="6473952"/>
            <a:ext cx="731520" cy="201168"/>
          </a:xfrm>
          <a:prstGeom prst="rect">
            <a:avLst/>
          </a:prstGeom>
          <a:noFill/>
          <a:ln/>
        </p:spPr>
        <p:txBody>
          <a:bodyPr wrap="square" lIns="0" tIns="0" rIns="0" bIns="0" rtlCol="0" anchor="ctr"/>
          <a:lstStyle/>
          <a:p>
            <a:pPr indent="0" marL="0">
              <a:buNone/>
            </a:pPr>
            <a:r>
              <a:rPr lang="en-US" sz="900" dirty="0">
                <a:solidFill>
                  <a:srgbClr val="465064"/>
                </a:solidFill>
              </a:rPr>
              <a:t>11 / 25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11403" y="557784"/>
            <a:ext cx="557784" cy="0"/>
          </a:xfrm>
          <a:prstGeom prst="line">
            <a:avLst/>
          </a:prstGeom>
          <a:noFill/>
          <a:ln w="25400">
            <a:solidFill>
              <a:srgbClr val="01258F"/>
            </a:solidFill>
            <a:prstDash val="solid"/>
          </a:ln>
        </p:spPr>
      </p:sp>
      <p:sp>
        <p:nvSpPr>
          <p:cNvPr id="4" name="Text 1"/>
          <p:cNvSpPr/>
          <p:nvPr/>
        </p:nvSpPr>
        <p:spPr>
          <a:xfrm>
            <a:off x="711403" y="713232"/>
            <a:ext cx="10771632" cy="228600"/>
          </a:xfrm>
          <a:prstGeom prst="rect">
            <a:avLst/>
          </a:prstGeom>
          <a:noFill/>
          <a:ln/>
        </p:spPr>
        <p:txBody>
          <a:bodyPr wrap="square" lIns="0" tIns="0" rIns="0" bIns="0" rtlCol="0" anchor="ctr"/>
          <a:lstStyle/>
          <a:p>
            <a:pPr indent="0" marL="0">
              <a:buNone/>
            </a:pPr>
            <a:r>
              <a:rPr lang="en-US" sz="1000" dirty="0">
                <a:solidFill>
                  <a:srgbClr val="01258F"/>
                </a:solidFill>
              </a:rPr>
              <a:t>11 / ROLES</a:t>
            </a:r>
            <a:endParaRPr lang="en-US" sz="1000" dirty="0"/>
          </a:p>
        </p:txBody>
      </p:sp>
      <p:sp>
        <p:nvSpPr>
          <p:cNvPr id="5" name="Text 2"/>
          <p:cNvSpPr/>
          <p:nvPr/>
        </p:nvSpPr>
        <p:spPr>
          <a:xfrm>
            <a:off x="685800" y="1051560"/>
            <a:ext cx="10771632" cy="512064"/>
          </a:xfrm>
          <a:prstGeom prst="rect">
            <a:avLst/>
          </a:prstGeom>
          <a:noFill/>
          <a:ln/>
        </p:spPr>
        <p:txBody>
          <a:bodyPr wrap="square" lIns="0" tIns="0" rIns="0" bIns="0" rtlCol="0" anchor="ctr">
            <a:normAutofit/>
          </a:bodyPr>
          <a:lstStyle/>
          <a:p>
            <a:pPr indent="0" marL="0">
              <a:buNone/>
            </a:pPr>
            <a:r>
              <a:rPr lang="en-US" sz="3100" dirty="0">
                <a:solidFill>
                  <a:srgbClr val="01258F"/>
                </a:solidFill>
                <a:latin typeface="Georgia" pitchFamily="34" charset="0"/>
                <a:ea typeface="Georgia" pitchFamily="34" charset="-122"/>
                <a:cs typeface="Georgia" pitchFamily="34" charset="-120"/>
              </a:rPr>
              <a:t>Developpeur et direction</a:t>
            </a:r>
            <a:endParaRPr lang="en-US" sz="3100" dirty="0"/>
          </a:p>
        </p:txBody>
      </p:sp>
      <p:sp>
        <p:nvSpPr>
          <p:cNvPr id="6" name="Text 3"/>
          <p:cNvSpPr/>
          <p:nvPr/>
        </p:nvSpPr>
        <p:spPr>
          <a:xfrm>
            <a:off x="711403" y="1801368"/>
            <a:ext cx="10769600" cy="4160520"/>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465064"/>
                </a:solidFill>
              </a:rPr>
              <a:t>ADMIN / developpeur : administration complete ; seul role autorise a creer les acces, changer roles, emails,</a:t>
            </a:r>
            <a:endParaRPr lang="en-US" sz="1700" dirty="0"/>
          </a:p>
          <a:p>
            <a:pPr indent="0" marL="0">
              <a:lnSpc>
                <a:spcPct val="110000"/>
              </a:lnSpc>
              <a:buNone/>
            </a:pPr>
            <a:r>
              <a:rPr lang="en-US" sz="1700" dirty="0">
                <a:solidFill>
                  <a:srgbClr val="465064"/>
                </a:solidFill>
              </a:rPr>
              <a:t>activation et mots de passe.</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MANAGER : reservations, salle, encaissement, reglages, contenus, audit et informations professionnelles de</a:t>
            </a:r>
            <a:endParaRPr lang="en-US" sz="1700" dirty="0"/>
          </a:p>
          <a:p>
            <a:pPr indent="0" marL="0">
              <a:lnSpc>
                <a:spcPct val="110000"/>
              </a:lnSpc>
              <a:buNone/>
            </a:pPr>
            <a:r>
              <a:rPr lang="en-US" sz="1700" dirty="0">
                <a:solidFill>
                  <a:srgbClr val="465064"/>
                </a:solidFill>
              </a:rPr>
              <a:t>l'equipe.</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Le manager peut ajouter une fiche SERVICE sans connexion, mais ne peut pas gerer les acces ni modifier le</a:t>
            </a:r>
            <a:endParaRPr lang="en-US" sz="1700" dirty="0"/>
          </a:p>
          <a:p>
            <a:pPr indent="0" marL="0">
              <a:lnSpc>
                <a:spcPct val="110000"/>
              </a:lnSpc>
              <a:buNone/>
            </a:pPr>
            <a:r>
              <a:rPr lang="en-US" sz="1700" dirty="0">
                <a:solidFill>
                  <a:srgbClr val="465064"/>
                </a:solidFill>
              </a:rPr>
              <a:t>developpeur.</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Un administrateur ne peut pas retirer son propre acces ni retirer le dernier administrateur actif avec mot de</a:t>
            </a:r>
            <a:endParaRPr lang="en-US" sz="1700" dirty="0"/>
          </a:p>
          <a:p>
            <a:pPr indent="0" marL="0">
              <a:lnSpc>
                <a:spcPct val="110000"/>
              </a:lnSpc>
              <a:buNone/>
            </a:pPr>
            <a:r>
              <a:rPr lang="en-US" sz="1700" dirty="0">
                <a:solidFill>
                  <a:srgbClr val="465064"/>
                </a:solidFill>
              </a:rPr>
              <a:t>passe.</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Les permissions sont verifiees sur le serveur, meme pour une requete fabriquee hors interface.</a:t>
            </a:r>
            <a:endParaRPr lang="en-US" sz="1700" dirty="0"/>
          </a:p>
        </p:txBody>
      </p:sp>
      <p:sp>
        <p:nvSpPr>
          <p:cNvPr id="7" name="Text 4"/>
          <p:cNvSpPr/>
          <p:nvPr/>
        </p:nvSpPr>
        <p:spPr>
          <a:xfrm>
            <a:off x="711403" y="6473952"/>
            <a:ext cx="9144000" cy="201168"/>
          </a:xfrm>
          <a:prstGeom prst="rect">
            <a:avLst/>
          </a:prstGeom>
          <a:noFill/>
          <a:ln/>
        </p:spPr>
        <p:txBody>
          <a:bodyPr wrap="square" lIns="0" tIns="0" rIns="0" bIns="0" rtlCol="0" anchor="ctr"/>
          <a:lstStyle/>
          <a:p>
            <a:pPr indent="0" marL="0">
              <a:buNone/>
            </a:pPr>
            <a:r>
              <a:rPr lang="en-US" sz="900" dirty="0">
                <a:solidFill>
                  <a:srgbClr val="465064"/>
                </a:solidFill>
              </a:rPr>
              <a:t>GALI BLUE / Casablanca / Recette locale</a:t>
            </a:r>
            <a:endParaRPr lang="en-US" sz="900" dirty="0"/>
          </a:p>
        </p:txBody>
      </p:sp>
      <p:sp>
        <p:nvSpPr>
          <p:cNvPr id="8" name="Text 5"/>
          <p:cNvSpPr/>
          <p:nvPr/>
        </p:nvSpPr>
        <p:spPr>
          <a:xfrm>
            <a:off x="10947197" y="6473952"/>
            <a:ext cx="731520" cy="201168"/>
          </a:xfrm>
          <a:prstGeom prst="rect">
            <a:avLst/>
          </a:prstGeom>
          <a:noFill/>
          <a:ln/>
        </p:spPr>
        <p:txBody>
          <a:bodyPr wrap="square" lIns="0" tIns="0" rIns="0" bIns="0" rtlCol="0" anchor="ctr"/>
          <a:lstStyle/>
          <a:p>
            <a:pPr indent="0" marL="0">
              <a:buNone/>
            </a:pPr>
            <a:r>
              <a:rPr lang="en-US" sz="900" dirty="0">
                <a:solidFill>
                  <a:srgbClr val="465064"/>
                </a:solidFill>
              </a:rPr>
              <a:t>12 / 25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11403" y="557784"/>
            <a:ext cx="557784" cy="0"/>
          </a:xfrm>
          <a:prstGeom prst="line">
            <a:avLst/>
          </a:prstGeom>
          <a:noFill/>
          <a:ln w="25400">
            <a:solidFill>
              <a:srgbClr val="01258F"/>
            </a:solidFill>
            <a:prstDash val="solid"/>
          </a:ln>
        </p:spPr>
      </p:sp>
      <p:sp>
        <p:nvSpPr>
          <p:cNvPr id="4" name="Text 1"/>
          <p:cNvSpPr/>
          <p:nvPr/>
        </p:nvSpPr>
        <p:spPr>
          <a:xfrm>
            <a:off x="711403" y="713232"/>
            <a:ext cx="10771632" cy="228600"/>
          </a:xfrm>
          <a:prstGeom prst="rect">
            <a:avLst/>
          </a:prstGeom>
          <a:noFill/>
          <a:ln/>
        </p:spPr>
        <p:txBody>
          <a:bodyPr wrap="square" lIns="0" tIns="0" rIns="0" bIns="0" rtlCol="0" anchor="ctr"/>
          <a:lstStyle/>
          <a:p>
            <a:pPr indent="0" marL="0">
              <a:buNone/>
            </a:pPr>
            <a:r>
              <a:rPr lang="en-US" sz="1000" dirty="0">
                <a:solidFill>
                  <a:srgbClr val="01258F"/>
                </a:solidFill>
              </a:rPr>
              <a:t>12 / ACCES LIMITES</a:t>
            </a:r>
            <a:endParaRPr lang="en-US" sz="1000" dirty="0"/>
          </a:p>
        </p:txBody>
      </p:sp>
      <p:sp>
        <p:nvSpPr>
          <p:cNvPr id="5" name="Text 2"/>
          <p:cNvSpPr/>
          <p:nvPr/>
        </p:nvSpPr>
        <p:spPr>
          <a:xfrm>
            <a:off x="685800" y="1051560"/>
            <a:ext cx="10771632" cy="512064"/>
          </a:xfrm>
          <a:prstGeom prst="rect">
            <a:avLst/>
          </a:prstGeom>
          <a:noFill/>
          <a:ln/>
        </p:spPr>
        <p:txBody>
          <a:bodyPr wrap="square" lIns="0" tIns="0" rIns="0" bIns="0" rtlCol="0" anchor="ctr">
            <a:normAutofit/>
          </a:bodyPr>
          <a:lstStyle/>
          <a:p>
            <a:pPr indent="0" marL="0">
              <a:buNone/>
            </a:pPr>
            <a:r>
              <a:rPr lang="en-US" sz="3100" dirty="0">
                <a:solidFill>
                  <a:srgbClr val="01258F"/>
                </a:solidFill>
                <a:latin typeface="Georgia" pitchFamily="34" charset="0"/>
                <a:ea typeface="Georgia" pitchFamily="34" charset="-122"/>
                <a:cs typeface="Georgia" pitchFamily="34" charset="-120"/>
              </a:rPr>
              <a:t>Les roles du restaurant-bar</a:t>
            </a:r>
            <a:endParaRPr lang="en-US" sz="3100" dirty="0"/>
          </a:p>
        </p:txBody>
      </p:sp>
      <p:sp>
        <p:nvSpPr>
          <p:cNvPr id="6" name="Text 3"/>
          <p:cNvSpPr/>
          <p:nvPr/>
        </p:nvSpPr>
        <p:spPr>
          <a:xfrm>
            <a:off x="711403" y="1801368"/>
            <a:ext cx="10769600" cy="4160520"/>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465064"/>
                </a:solidFill>
              </a:rPr>
              <a:t>HOST / accueil : demandes, appels, confirmation, annulation, absence, affectations, arrivee et depart. Pas de</a:t>
            </a:r>
            <a:endParaRPr lang="en-US" sz="1700" dirty="0"/>
          </a:p>
          <a:p>
            <a:pPr indent="0" marL="0">
              <a:lnSpc>
                <a:spcPct val="110000"/>
              </a:lnSpc>
              <a:buNone/>
            </a:pPr>
            <a:r>
              <a:rPr lang="en-US" sz="1700" dirty="0">
                <a:solidFill>
                  <a:srgbClr val="465064"/>
                </a:solidFill>
              </a:rPr>
              <a:t>caisse ou de reglages.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SERVICE : uniquement ses dossiers affectes ; arrivee/depart. Pas de confirmation d'appel ni d'encaissement.</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CASHIER / caisse : dossiers installes ou termines et encaissement ; sans telephone, email ou note client.</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EDITOR / communication : carte, evenements, medias, brouillons et publication ; aucune reservation ni fiche</a:t>
            </a:r>
            <a:endParaRPr lang="en-US" sz="1700" dirty="0"/>
          </a:p>
          <a:p>
            <a:pPr indent="0" marL="0">
              <a:lnSpc>
                <a:spcPct val="110000"/>
              </a:lnSpc>
              <a:buNone/>
            </a:pPr>
            <a:r>
              <a:rPr lang="en-US" sz="1700" dirty="0">
                <a:solidFill>
                  <a:srgbClr val="465064"/>
                </a:solidFill>
              </a:rPr>
              <a:t>personnel.</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Tous les roles peuvent changer leur propre mot de passe via Mon compte.</a:t>
            </a:r>
            <a:endParaRPr lang="en-US" sz="1700" dirty="0"/>
          </a:p>
        </p:txBody>
      </p:sp>
      <p:sp>
        <p:nvSpPr>
          <p:cNvPr id="7" name="Text 4"/>
          <p:cNvSpPr/>
          <p:nvPr/>
        </p:nvSpPr>
        <p:spPr>
          <a:xfrm>
            <a:off x="711403" y="6473952"/>
            <a:ext cx="9144000" cy="201168"/>
          </a:xfrm>
          <a:prstGeom prst="rect">
            <a:avLst/>
          </a:prstGeom>
          <a:noFill/>
          <a:ln/>
        </p:spPr>
        <p:txBody>
          <a:bodyPr wrap="square" lIns="0" tIns="0" rIns="0" bIns="0" rtlCol="0" anchor="ctr"/>
          <a:lstStyle/>
          <a:p>
            <a:pPr indent="0" marL="0">
              <a:buNone/>
            </a:pPr>
            <a:r>
              <a:rPr lang="en-US" sz="900" dirty="0">
                <a:solidFill>
                  <a:srgbClr val="465064"/>
                </a:solidFill>
              </a:rPr>
              <a:t>GALI BLUE / Casablanca / Recette locale</a:t>
            </a:r>
            <a:endParaRPr lang="en-US" sz="900" dirty="0"/>
          </a:p>
        </p:txBody>
      </p:sp>
      <p:sp>
        <p:nvSpPr>
          <p:cNvPr id="8" name="Text 5"/>
          <p:cNvSpPr/>
          <p:nvPr/>
        </p:nvSpPr>
        <p:spPr>
          <a:xfrm>
            <a:off x="10947197" y="6473952"/>
            <a:ext cx="731520" cy="201168"/>
          </a:xfrm>
          <a:prstGeom prst="rect">
            <a:avLst/>
          </a:prstGeom>
          <a:noFill/>
          <a:ln/>
        </p:spPr>
        <p:txBody>
          <a:bodyPr wrap="square" lIns="0" tIns="0" rIns="0" bIns="0" rtlCol="0" anchor="ctr"/>
          <a:lstStyle/>
          <a:p>
            <a:pPr indent="0" marL="0">
              <a:buNone/>
            </a:pPr>
            <a:r>
              <a:rPr lang="en-US" sz="900" dirty="0">
                <a:solidFill>
                  <a:srgbClr val="465064"/>
                </a:solidFill>
              </a:rPr>
              <a:t>13 / 25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11403" y="557784"/>
            <a:ext cx="557784" cy="0"/>
          </a:xfrm>
          <a:prstGeom prst="line">
            <a:avLst/>
          </a:prstGeom>
          <a:noFill/>
          <a:ln w="25400">
            <a:solidFill>
              <a:srgbClr val="01258F"/>
            </a:solidFill>
            <a:prstDash val="solid"/>
          </a:ln>
        </p:spPr>
      </p:sp>
      <p:sp>
        <p:nvSpPr>
          <p:cNvPr id="4" name="Text 1"/>
          <p:cNvSpPr/>
          <p:nvPr/>
        </p:nvSpPr>
        <p:spPr>
          <a:xfrm>
            <a:off x="711403" y="713232"/>
            <a:ext cx="10771632" cy="228600"/>
          </a:xfrm>
          <a:prstGeom prst="rect">
            <a:avLst/>
          </a:prstGeom>
          <a:noFill/>
          <a:ln/>
        </p:spPr>
        <p:txBody>
          <a:bodyPr wrap="square" lIns="0" tIns="0" rIns="0" bIns="0" rtlCol="0" anchor="ctr"/>
          <a:lstStyle/>
          <a:p>
            <a:pPr indent="0" marL="0">
              <a:buNone/>
            </a:pPr>
            <a:r>
              <a:rPr lang="en-US" sz="1000" dirty="0">
                <a:solidFill>
                  <a:srgbClr val="01258F"/>
                </a:solidFill>
              </a:rPr>
              <a:t>13 / COMPTES PERSONNELS</a:t>
            </a:r>
            <a:endParaRPr lang="en-US" sz="1000" dirty="0"/>
          </a:p>
        </p:txBody>
      </p:sp>
      <p:sp>
        <p:nvSpPr>
          <p:cNvPr id="5" name="Text 2"/>
          <p:cNvSpPr/>
          <p:nvPr/>
        </p:nvSpPr>
        <p:spPr>
          <a:xfrm>
            <a:off x="685800" y="1051560"/>
            <a:ext cx="10771632" cy="512064"/>
          </a:xfrm>
          <a:prstGeom prst="rect">
            <a:avLst/>
          </a:prstGeom>
          <a:noFill/>
          <a:ln/>
        </p:spPr>
        <p:txBody>
          <a:bodyPr wrap="square" lIns="0" tIns="0" rIns="0" bIns="0" rtlCol="0" anchor="ctr">
            <a:normAutofit/>
          </a:bodyPr>
          <a:lstStyle/>
          <a:p>
            <a:pPr indent="0" marL="0">
              <a:buNone/>
            </a:pPr>
            <a:r>
              <a:rPr lang="en-US" sz="3100" dirty="0">
                <a:solidFill>
                  <a:srgbClr val="01258F"/>
                </a:solidFill>
                <a:latin typeface="Georgia" pitchFamily="34" charset="0"/>
                <a:ea typeface="Georgia" pitchFamily="34" charset="-122"/>
                <a:cs typeface="Georgia" pitchFamily="34" charset="-120"/>
              </a:rPr>
              <a:t>Premier acces de l'equipe</a:t>
            </a:r>
            <a:endParaRPr lang="en-US" sz="3100" dirty="0"/>
          </a:p>
        </p:txBody>
      </p:sp>
      <p:sp>
        <p:nvSpPr>
          <p:cNvPr id="6" name="Text 3"/>
          <p:cNvSpPr/>
          <p:nvPr/>
        </p:nvSpPr>
        <p:spPr>
          <a:xfrm>
            <a:off x="711403" y="1801368"/>
            <a:ext cx="10769600" cy="4160520"/>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465064"/>
                </a:solidFill>
              </a:rPr>
              <a:t>Six comptes de recette avec adresses .test : developpeur, manager, accueil, service, caisse et communication.</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Mots de passe aleatoires remis separement dans un fichier prive hors depot. Aucun secret dans cette</a:t>
            </a:r>
            <a:endParaRPr lang="en-US" sz="1700" dirty="0"/>
          </a:p>
          <a:p>
            <a:pPr indent="0" marL="0">
              <a:lnSpc>
                <a:spcPct val="110000"/>
              </a:lnSpc>
              <a:buNone/>
            </a:pPr>
            <a:r>
              <a:rPr lang="en-US" sz="1700" dirty="0">
                <a:solidFill>
                  <a:srgbClr val="465064"/>
                </a:solidFill>
              </a:rPr>
              <a:t>presentation.</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Premiere connexion : renouvellement obligatoire avant tout acces au dashboard ou a ses API.</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Nouveau mot de passe distinct, 12 caracteres minimum, limite de 72 octets.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Le renouvellement invalide les autres sessions. Desactiver un compte coupe aussi son acces.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L'administrateur existant est conserve. Un redeploiement ne reinitialise et ne reactive aucun compte.</a:t>
            </a:r>
            <a:endParaRPr lang="en-US" sz="1700" dirty="0"/>
          </a:p>
        </p:txBody>
      </p:sp>
      <p:sp>
        <p:nvSpPr>
          <p:cNvPr id="7" name="Text 4"/>
          <p:cNvSpPr/>
          <p:nvPr/>
        </p:nvSpPr>
        <p:spPr>
          <a:xfrm>
            <a:off x="711403" y="6473952"/>
            <a:ext cx="9144000" cy="201168"/>
          </a:xfrm>
          <a:prstGeom prst="rect">
            <a:avLst/>
          </a:prstGeom>
          <a:noFill/>
          <a:ln/>
        </p:spPr>
        <p:txBody>
          <a:bodyPr wrap="square" lIns="0" tIns="0" rIns="0" bIns="0" rtlCol="0" anchor="ctr"/>
          <a:lstStyle/>
          <a:p>
            <a:pPr indent="0" marL="0">
              <a:buNone/>
            </a:pPr>
            <a:r>
              <a:rPr lang="en-US" sz="900" dirty="0">
                <a:solidFill>
                  <a:srgbClr val="465064"/>
                </a:solidFill>
              </a:rPr>
              <a:t>GALI BLUE / Casablanca / Recette locale</a:t>
            </a:r>
            <a:endParaRPr lang="en-US" sz="900" dirty="0"/>
          </a:p>
        </p:txBody>
      </p:sp>
      <p:sp>
        <p:nvSpPr>
          <p:cNvPr id="8" name="Text 5"/>
          <p:cNvSpPr/>
          <p:nvPr/>
        </p:nvSpPr>
        <p:spPr>
          <a:xfrm>
            <a:off x="10947197" y="6473952"/>
            <a:ext cx="731520" cy="201168"/>
          </a:xfrm>
          <a:prstGeom prst="rect">
            <a:avLst/>
          </a:prstGeom>
          <a:noFill/>
          <a:ln/>
        </p:spPr>
        <p:txBody>
          <a:bodyPr wrap="square" lIns="0" tIns="0" rIns="0" bIns="0" rtlCol="0" anchor="ctr"/>
          <a:lstStyle/>
          <a:p>
            <a:pPr indent="0" marL="0">
              <a:buNone/>
            </a:pPr>
            <a:r>
              <a:rPr lang="en-US" sz="900" dirty="0">
                <a:solidFill>
                  <a:srgbClr val="465064"/>
                </a:solidFill>
              </a:rPr>
              <a:t>14 / 25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11403" y="557784"/>
            <a:ext cx="557784" cy="0"/>
          </a:xfrm>
          <a:prstGeom prst="line">
            <a:avLst/>
          </a:prstGeom>
          <a:noFill/>
          <a:ln w="25400">
            <a:solidFill>
              <a:srgbClr val="01258F"/>
            </a:solidFill>
            <a:prstDash val="solid"/>
          </a:ln>
        </p:spPr>
      </p:sp>
      <p:sp>
        <p:nvSpPr>
          <p:cNvPr id="4" name="Text 1"/>
          <p:cNvSpPr/>
          <p:nvPr/>
        </p:nvSpPr>
        <p:spPr>
          <a:xfrm>
            <a:off x="711403" y="713232"/>
            <a:ext cx="10771632" cy="228600"/>
          </a:xfrm>
          <a:prstGeom prst="rect">
            <a:avLst/>
          </a:prstGeom>
          <a:noFill/>
          <a:ln/>
        </p:spPr>
        <p:txBody>
          <a:bodyPr wrap="square" lIns="0" tIns="0" rIns="0" bIns="0" rtlCol="0" anchor="ctr"/>
          <a:lstStyle/>
          <a:p>
            <a:pPr indent="0" marL="0">
              <a:buNone/>
            </a:pPr>
            <a:r>
              <a:rPr lang="en-US" sz="1000" dirty="0">
                <a:solidFill>
                  <a:srgbClr val="01258F"/>
                </a:solidFill>
              </a:rPr>
              <a:t>14 / ORGANISATION</a:t>
            </a:r>
            <a:endParaRPr lang="en-US" sz="1000" dirty="0"/>
          </a:p>
        </p:txBody>
      </p:sp>
      <p:sp>
        <p:nvSpPr>
          <p:cNvPr id="5" name="Text 2"/>
          <p:cNvSpPr/>
          <p:nvPr/>
        </p:nvSpPr>
        <p:spPr>
          <a:xfrm>
            <a:off x="685800" y="1051560"/>
            <a:ext cx="10771632" cy="512064"/>
          </a:xfrm>
          <a:prstGeom prst="rect">
            <a:avLst/>
          </a:prstGeom>
          <a:noFill/>
          <a:ln/>
        </p:spPr>
        <p:txBody>
          <a:bodyPr wrap="square" lIns="0" tIns="0" rIns="0" bIns="0" rtlCol="0" anchor="ctr">
            <a:normAutofit/>
          </a:bodyPr>
          <a:lstStyle/>
          <a:p>
            <a:pPr indent="0" marL="0">
              <a:buNone/>
            </a:pPr>
            <a:r>
              <a:rPr lang="en-US" sz="3100" dirty="0">
                <a:solidFill>
                  <a:srgbClr val="01258F"/>
                </a:solidFill>
                <a:latin typeface="Georgia" pitchFamily="34" charset="0"/>
                <a:ea typeface="Georgia" pitchFamily="34" charset="-122"/>
                <a:cs typeface="Georgia" pitchFamily="34" charset="-120"/>
              </a:rPr>
              <a:t>Salle, equipe et reglages</a:t>
            </a:r>
            <a:endParaRPr lang="en-US" sz="3100" dirty="0"/>
          </a:p>
        </p:txBody>
      </p:sp>
      <p:sp>
        <p:nvSpPr>
          <p:cNvPr id="6" name="Text 3"/>
          <p:cNvSpPr/>
          <p:nvPr/>
        </p:nvSpPr>
        <p:spPr>
          <a:xfrm>
            <a:off x="711403" y="1801368"/>
            <a:ext cx="10769600" cy="4160520"/>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465064"/>
                </a:solidFill>
              </a:rPr>
              <a:t>Salle &amp; tables : nom, places, espace, groupe, actif, Standard/VIP et position sur le plan.</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Reaffecter les dossiers futurs avant reduction de capacite ou changement de categorie, espace, groupe ou</a:t>
            </a:r>
            <a:endParaRPr lang="en-US" sz="1700" dirty="0"/>
          </a:p>
          <a:p>
            <a:pPr indent="0" marL="0">
              <a:lnSpc>
                <a:spcPct val="110000"/>
              </a:lnSpc>
              <a:buNone/>
            </a:pPr>
            <a:r>
              <a:rPr lang="en-US" sz="1700" dirty="0">
                <a:solidFill>
                  <a:srgbClr val="465064"/>
                </a:solidFill>
              </a:rPr>
              <a:t>activation.</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Personnel : fonctions, fiches, planning sous forme de note et affectations par reservation.</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Parametres : parcours classique/plan independants ; au moins un parcours doit rester actif.</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Services, fermetures, convives maximum, duree, nettoyage et delai de grace controles par le serveur.</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Audit global pour ADMIN/MANAGER et historique du dossier pour le suivi operationnel.</a:t>
            </a:r>
            <a:endParaRPr lang="en-US" sz="1700" dirty="0"/>
          </a:p>
        </p:txBody>
      </p:sp>
      <p:sp>
        <p:nvSpPr>
          <p:cNvPr id="7" name="Text 4"/>
          <p:cNvSpPr/>
          <p:nvPr/>
        </p:nvSpPr>
        <p:spPr>
          <a:xfrm>
            <a:off x="711403" y="6473952"/>
            <a:ext cx="9144000" cy="201168"/>
          </a:xfrm>
          <a:prstGeom prst="rect">
            <a:avLst/>
          </a:prstGeom>
          <a:noFill/>
          <a:ln/>
        </p:spPr>
        <p:txBody>
          <a:bodyPr wrap="square" lIns="0" tIns="0" rIns="0" bIns="0" rtlCol="0" anchor="ctr"/>
          <a:lstStyle/>
          <a:p>
            <a:pPr indent="0" marL="0">
              <a:buNone/>
            </a:pPr>
            <a:r>
              <a:rPr lang="en-US" sz="900" dirty="0">
                <a:solidFill>
                  <a:srgbClr val="465064"/>
                </a:solidFill>
              </a:rPr>
              <a:t>GALI BLUE / Casablanca / Recette locale</a:t>
            </a:r>
            <a:endParaRPr lang="en-US" sz="900" dirty="0"/>
          </a:p>
        </p:txBody>
      </p:sp>
      <p:sp>
        <p:nvSpPr>
          <p:cNvPr id="8" name="Text 5"/>
          <p:cNvSpPr/>
          <p:nvPr/>
        </p:nvSpPr>
        <p:spPr>
          <a:xfrm>
            <a:off x="10947197" y="6473952"/>
            <a:ext cx="731520" cy="201168"/>
          </a:xfrm>
          <a:prstGeom prst="rect">
            <a:avLst/>
          </a:prstGeom>
          <a:noFill/>
          <a:ln/>
        </p:spPr>
        <p:txBody>
          <a:bodyPr wrap="square" lIns="0" tIns="0" rIns="0" bIns="0" rtlCol="0" anchor="ctr"/>
          <a:lstStyle/>
          <a:p>
            <a:pPr indent="0" marL="0">
              <a:buNone/>
            </a:pPr>
            <a:r>
              <a:rPr lang="en-US" sz="900" dirty="0">
                <a:solidFill>
                  <a:srgbClr val="465064"/>
                </a:solidFill>
              </a:rPr>
              <a:t>15 / 25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11403" y="557784"/>
            <a:ext cx="557784" cy="0"/>
          </a:xfrm>
          <a:prstGeom prst="line">
            <a:avLst/>
          </a:prstGeom>
          <a:noFill/>
          <a:ln w="25400">
            <a:solidFill>
              <a:srgbClr val="01258F"/>
            </a:solidFill>
            <a:prstDash val="solid"/>
          </a:ln>
        </p:spPr>
      </p:sp>
      <p:sp>
        <p:nvSpPr>
          <p:cNvPr id="4" name="Text 1"/>
          <p:cNvSpPr/>
          <p:nvPr/>
        </p:nvSpPr>
        <p:spPr>
          <a:xfrm>
            <a:off x="711403" y="713232"/>
            <a:ext cx="10771632" cy="228600"/>
          </a:xfrm>
          <a:prstGeom prst="rect">
            <a:avLst/>
          </a:prstGeom>
          <a:noFill/>
          <a:ln/>
        </p:spPr>
        <p:txBody>
          <a:bodyPr wrap="square" lIns="0" tIns="0" rIns="0" bIns="0" rtlCol="0" anchor="ctr"/>
          <a:lstStyle/>
          <a:p>
            <a:pPr indent="0" marL="0">
              <a:buNone/>
            </a:pPr>
            <a:r>
              <a:rPr lang="en-US" sz="1000" dirty="0">
                <a:solidFill>
                  <a:srgbClr val="01258F"/>
                </a:solidFill>
              </a:rPr>
              <a:t>15 / COMMUNICATION</a:t>
            </a:r>
            <a:endParaRPr lang="en-US" sz="1000" dirty="0"/>
          </a:p>
        </p:txBody>
      </p:sp>
      <p:sp>
        <p:nvSpPr>
          <p:cNvPr id="5" name="Text 2"/>
          <p:cNvSpPr/>
          <p:nvPr/>
        </p:nvSpPr>
        <p:spPr>
          <a:xfrm>
            <a:off x="685800" y="1051560"/>
            <a:ext cx="10771632" cy="512064"/>
          </a:xfrm>
          <a:prstGeom prst="rect">
            <a:avLst/>
          </a:prstGeom>
          <a:noFill/>
          <a:ln/>
        </p:spPr>
        <p:txBody>
          <a:bodyPr wrap="square" lIns="0" tIns="0" rIns="0" bIns="0" rtlCol="0" anchor="ctr">
            <a:normAutofit/>
          </a:bodyPr>
          <a:lstStyle/>
          <a:p>
            <a:pPr indent="0" marL="0">
              <a:buNone/>
            </a:pPr>
            <a:r>
              <a:rPr lang="en-US" sz="3100" dirty="0">
                <a:solidFill>
                  <a:srgbClr val="01258F"/>
                </a:solidFill>
                <a:latin typeface="Georgia" pitchFamily="34" charset="0"/>
                <a:ea typeface="Georgia" pitchFamily="34" charset="-122"/>
                <a:cs typeface="Georgia" pitchFamily="34" charset="-120"/>
              </a:rPr>
              <a:t>La publication du site</a:t>
            </a:r>
            <a:endParaRPr lang="en-US" sz="3100" dirty="0"/>
          </a:p>
        </p:txBody>
      </p:sp>
      <p:sp>
        <p:nvSpPr>
          <p:cNvPr id="6" name="Text 3"/>
          <p:cNvSpPr/>
          <p:nvPr/>
        </p:nvSpPr>
        <p:spPr>
          <a:xfrm>
            <a:off x="711403" y="1801368"/>
            <a:ext cx="10769600" cy="4160520"/>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465064"/>
                </a:solidFill>
              </a:rPr>
              <a:t>Carte : categorie, description, prix MAD, allergenes, photo, ordre et visibilite.</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Evenements : date, horaire, description, photo, ordre et publication. Les brouillons/passes sont caches du public.</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Medias : JPEG/PNG/WebP jusqu'a 8 Mo, MP4 jusqu'a 30 Mo ; SVG/HTML refuses.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Contenus : textes, cheffe, bandeau, contact et logos. Brouillon &gt; apercu prive &gt; publication.</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Un brouillon enregistre ne change pas le site public. Pas de donnees de brouillon pour les roles operationnels.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Les photos, prix, identites et annonces d'exemple doivent etre remplaces avant exploitation.</a:t>
            </a:r>
            <a:endParaRPr lang="en-US" sz="1700" dirty="0"/>
          </a:p>
        </p:txBody>
      </p:sp>
      <p:sp>
        <p:nvSpPr>
          <p:cNvPr id="7" name="Text 4"/>
          <p:cNvSpPr/>
          <p:nvPr/>
        </p:nvSpPr>
        <p:spPr>
          <a:xfrm>
            <a:off x="711403" y="6473952"/>
            <a:ext cx="9144000" cy="201168"/>
          </a:xfrm>
          <a:prstGeom prst="rect">
            <a:avLst/>
          </a:prstGeom>
          <a:noFill/>
          <a:ln/>
        </p:spPr>
        <p:txBody>
          <a:bodyPr wrap="square" lIns="0" tIns="0" rIns="0" bIns="0" rtlCol="0" anchor="ctr"/>
          <a:lstStyle/>
          <a:p>
            <a:pPr indent="0" marL="0">
              <a:buNone/>
            </a:pPr>
            <a:r>
              <a:rPr lang="en-US" sz="900" dirty="0">
                <a:solidFill>
                  <a:srgbClr val="465064"/>
                </a:solidFill>
              </a:rPr>
              <a:t>GALI BLUE / Casablanca / Recette locale</a:t>
            </a:r>
            <a:endParaRPr lang="en-US" sz="900" dirty="0"/>
          </a:p>
        </p:txBody>
      </p:sp>
      <p:sp>
        <p:nvSpPr>
          <p:cNvPr id="8" name="Text 5"/>
          <p:cNvSpPr/>
          <p:nvPr/>
        </p:nvSpPr>
        <p:spPr>
          <a:xfrm>
            <a:off x="10947197" y="6473952"/>
            <a:ext cx="731520" cy="201168"/>
          </a:xfrm>
          <a:prstGeom prst="rect">
            <a:avLst/>
          </a:prstGeom>
          <a:noFill/>
          <a:ln/>
        </p:spPr>
        <p:txBody>
          <a:bodyPr wrap="square" lIns="0" tIns="0" rIns="0" bIns="0" rtlCol="0" anchor="ctr"/>
          <a:lstStyle/>
          <a:p>
            <a:pPr indent="0" marL="0">
              <a:buNone/>
            </a:pPr>
            <a:r>
              <a:rPr lang="en-US" sz="900" dirty="0">
                <a:solidFill>
                  <a:srgbClr val="465064"/>
                </a:solidFill>
              </a:rPr>
              <a:t>16 / 25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11403" y="557784"/>
            <a:ext cx="557784" cy="0"/>
          </a:xfrm>
          <a:prstGeom prst="line">
            <a:avLst/>
          </a:prstGeom>
          <a:noFill/>
          <a:ln w="25400">
            <a:solidFill>
              <a:srgbClr val="01258F"/>
            </a:solidFill>
            <a:prstDash val="solid"/>
          </a:ln>
        </p:spPr>
      </p:sp>
      <p:sp>
        <p:nvSpPr>
          <p:cNvPr id="4" name="Text 1"/>
          <p:cNvSpPr/>
          <p:nvPr/>
        </p:nvSpPr>
        <p:spPr>
          <a:xfrm>
            <a:off x="711403" y="713232"/>
            <a:ext cx="10771632" cy="228600"/>
          </a:xfrm>
          <a:prstGeom prst="rect">
            <a:avLst/>
          </a:prstGeom>
          <a:noFill/>
          <a:ln/>
        </p:spPr>
        <p:txBody>
          <a:bodyPr wrap="square" lIns="0" tIns="0" rIns="0" bIns="0" rtlCol="0" anchor="ctr"/>
          <a:lstStyle/>
          <a:p>
            <a:pPr indent="0" marL="0">
              <a:buNone/>
            </a:pPr>
            <a:r>
              <a:rPr lang="en-US" sz="1000" dirty="0">
                <a:solidFill>
                  <a:srgbClr val="01258F"/>
                </a:solidFill>
              </a:rPr>
              <a:t>16 / USAGE TACTILE</a:t>
            </a:r>
            <a:endParaRPr lang="en-US" sz="1000" dirty="0"/>
          </a:p>
        </p:txBody>
      </p:sp>
      <p:sp>
        <p:nvSpPr>
          <p:cNvPr id="5" name="Text 2"/>
          <p:cNvSpPr/>
          <p:nvPr/>
        </p:nvSpPr>
        <p:spPr>
          <a:xfrm>
            <a:off x="685800" y="1051560"/>
            <a:ext cx="10771632" cy="512064"/>
          </a:xfrm>
          <a:prstGeom prst="rect">
            <a:avLst/>
          </a:prstGeom>
          <a:noFill/>
          <a:ln/>
        </p:spPr>
        <p:txBody>
          <a:bodyPr wrap="square" lIns="0" tIns="0" rIns="0" bIns="0" rtlCol="0" anchor="ctr">
            <a:normAutofit/>
          </a:bodyPr>
          <a:lstStyle/>
          <a:p>
            <a:pPr indent="0" marL="0">
              <a:buNone/>
            </a:pPr>
            <a:r>
              <a:rPr lang="en-US" sz="3100" dirty="0">
                <a:solidFill>
                  <a:srgbClr val="01258F"/>
                </a:solidFill>
                <a:latin typeface="Georgia" pitchFamily="34" charset="0"/>
                <a:ea typeface="Georgia" pitchFamily="34" charset="-122"/>
                <a:cs typeface="Georgia" pitchFamily="34" charset="-120"/>
              </a:rPr>
              <a:t>Mobile : la recette effectuee</a:t>
            </a:r>
            <a:endParaRPr lang="en-US" sz="3100" dirty="0"/>
          </a:p>
        </p:txBody>
      </p:sp>
      <p:sp>
        <p:nvSpPr>
          <p:cNvPr id="6" name="Text 3"/>
          <p:cNvSpPr/>
          <p:nvPr/>
        </p:nvSpPr>
        <p:spPr>
          <a:xfrm>
            <a:off x="711403" y="1801368"/>
            <a:ext cx="10769600" cy="4160520"/>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465064"/>
                </a:solidFill>
              </a:rPr>
              <a:t>Plan : cinq largeurs, 320 / 390 / 768 / 1024 / 1440 ; 38 marqueurs, popup et liste alternative.</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Deux clients anonymes tactiles : demande classique VIP et demande sur plan VIP.</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Appel sur mobile : rappel, confirmation et affectation visibles apres actualisation.</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Recette generale : cinq pages publiques et dix vues du dashboard sur six formats, dont paysage 844 pixels.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Six roles sur mobile : navigation restreinte, Mon compte et premier renouvellement.</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Tableaux et plan defilent dans leur propre conteneur ; pas de debordement global de la page.</a:t>
            </a:r>
            <a:endParaRPr lang="en-US" sz="1700" dirty="0"/>
          </a:p>
        </p:txBody>
      </p:sp>
      <p:sp>
        <p:nvSpPr>
          <p:cNvPr id="7" name="Text 4"/>
          <p:cNvSpPr/>
          <p:nvPr/>
        </p:nvSpPr>
        <p:spPr>
          <a:xfrm>
            <a:off x="711403" y="6473952"/>
            <a:ext cx="9144000" cy="201168"/>
          </a:xfrm>
          <a:prstGeom prst="rect">
            <a:avLst/>
          </a:prstGeom>
          <a:noFill/>
          <a:ln/>
        </p:spPr>
        <p:txBody>
          <a:bodyPr wrap="square" lIns="0" tIns="0" rIns="0" bIns="0" rtlCol="0" anchor="ctr"/>
          <a:lstStyle/>
          <a:p>
            <a:pPr indent="0" marL="0">
              <a:buNone/>
            </a:pPr>
            <a:r>
              <a:rPr lang="en-US" sz="900" dirty="0">
                <a:solidFill>
                  <a:srgbClr val="465064"/>
                </a:solidFill>
              </a:rPr>
              <a:t>GALI BLUE / Casablanca / Recette locale</a:t>
            </a:r>
            <a:endParaRPr lang="en-US" sz="900" dirty="0"/>
          </a:p>
        </p:txBody>
      </p:sp>
      <p:sp>
        <p:nvSpPr>
          <p:cNvPr id="8" name="Text 5"/>
          <p:cNvSpPr/>
          <p:nvPr/>
        </p:nvSpPr>
        <p:spPr>
          <a:xfrm>
            <a:off x="10947197" y="6473952"/>
            <a:ext cx="731520" cy="201168"/>
          </a:xfrm>
          <a:prstGeom prst="rect">
            <a:avLst/>
          </a:prstGeom>
          <a:noFill/>
          <a:ln/>
        </p:spPr>
        <p:txBody>
          <a:bodyPr wrap="square" lIns="0" tIns="0" rIns="0" bIns="0" rtlCol="0" anchor="ctr"/>
          <a:lstStyle/>
          <a:p>
            <a:pPr indent="0" marL="0">
              <a:buNone/>
            </a:pPr>
            <a:r>
              <a:rPr lang="en-US" sz="900" dirty="0">
                <a:solidFill>
                  <a:srgbClr val="465064"/>
                </a:solidFill>
              </a:rPr>
              <a:t>17 / 25</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11403" y="557784"/>
            <a:ext cx="557784" cy="0"/>
          </a:xfrm>
          <a:prstGeom prst="line">
            <a:avLst/>
          </a:prstGeom>
          <a:noFill/>
          <a:ln w="25400">
            <a:solidFill>
              <a:srgbClr val="01258F"/>
            </a:solidFill>
            <a:prstDash val="solid"/>
          </a:ln>
        </p:spPr>
      </p:sp>
      <p:sp>
        <p:nvSpPr>
          <p:cNvPr id="4" name="Text 1"/>
          <p:cNvSpPr/>
          <p:nvPr/>
        </p:nvSpPr>
        <p:spPr>
          <a:xfrm>
            <a:off x="711403" y="713232"/>
            <a:ext cx="10771632" cy="228600"/>
          </a:xfrm>
          <a:prstGeom prst="rect">
            <a:avLst/>
          </a:prstGeom>
          <a:noFill/>
          <a:ln/>
        </p:spPr>
        <p:txBody>
          <a:bodyPr wrap="square" lIns="0" tIns="0" rIns="0" bIns="0" rtlCol="0" anchor="ctr"/>
          <a:lstStyle/>
          <a:p>
            <a:pPr indent="0" marL="0">
              <a:buNone/>
            </a:pPr>
            <a:r>
              <a:rPr lang="en-US" sz="1000" dirty="0">
                <a:solidFill>
                  <a:srgbClr val="01258F"/>
                </a:solidFill>
              </a:rPr>
              <a:t>17 / VERIFIE LOCALEMENT</a:t>
            </a:r>
            <a:endParaRPr lang="en-US" sz="1000" dirty="0"/>
          </a:p>
        </p:txBody>
      </p:sp>
      <p:sp>
        <p:nvSpPr>
          <p:cNvPr id="5" name="Text 2"/>
          <p:cNvSpPr/>
          <p:nvPr/>
        </p:nvSpPr>
        <p:spPr>
          <a:xfrm>
            <a:off x="685800" y="1051560"/>
            <a:ext cx="10771632" cy="512064"/>
          </a:xfrm>
          <a:prstGeom prst="rect">
            <a:avLst/>
          </a:prstGeom>
          <a:noFill/>
          <a:ln/>
        </p:spPr>
        <p:txBody>
          <a:bodyPr wrap="square" lIns="0" tIns="0" rIns="0" bIns="0" rtlCol="0" anchor="ctr">
            <a:normAutofit/>
          </a:bodyPr>
          <a:lstStyle/>
          <a:p>
            <a:pPr indent="0" marL="0">
              <a:buNone/>
            </a:pPr>
            <a:r>
              <a:rPr lang="en-US" sz="3100" dirty="0">
                <a:solidFill>
                  <a:srgbClr val="01258F"/>
                </a:solidFill>
                <a:latin typeface="Georgia" pitchFamily="34" charset="0"/>
                <a:ea typeface="Georgia" pitchFamily="34" charset="-122"/>
                <a:cs typeface="Georgia" pitchFamily="34" charset="-120"/>
              </a:rPr>
              <a:t>Resultats de recette</a:t>
            </a:r>
            <a:endParaRPr lang="en-US" sz="3100" dirty="0"/>
          </a:p>
        </p:txBody>
      </p:sp>
      <p:sp>
        <p:nvSpPr>
          <p:cNvPr id="6" name="Text 3"/>
          <p:cNvSpPr/>
          <p:nvPr/>
        </p:nvSpPr>
        <p:spPr>
          <a:xfrm>
            <a:off x="711403" y="1801368"/>
            <a:ext cx="10769600" cy="4160520"/>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465064"/>
                </a:solidFill>
              </a:rPr>
              <a:t>26 scenarios multi-clients : donnees, capacite, categories, concurrence et cycle de vie.</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39 controles d'acces : six roles, premier renouvellement, origines, anciennes sessions et desactivation.</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7 groupes de controles du plan : 38 unites, 9 VIP, cinq formats et 2 clients tactiles.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Recette generale UI et regression responsive passees sur la base locale.</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Ces resultats ne constituent pas une certification de la base ou du deploiement Railway.</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Les fixtures et comptes temporaires sont nettoyes ; les acces d'equipe sont conserves.</a:t>
            </a:r>
            <a:endParaRPr lang="en-US" sz="1700" dirty="0"/>
          </a:p>
        </p:txBody>
      </p:sp>
      <p:sp>
        <p:nvSpPr>
          <p:cNvPr id="7" name="Text 4"/>
          <p:cNvSpPr/>
          <p:nvPr/>
        </p:nvSpPr>
        <p:spPr>
          <a:xfrm>
            <a:off x="711403" y="6473952"/>
            <a:ext cx="9144000" cy="201168"/>
          </a:xfrm>
          <a:prstGeom prst="rect">
            <a:avLst/>
          </a:prstGeom>
          <a:noFill/>
          <a:ln/>
        </p:spPr>
        <p:txBody>
          <a:bodyPr wrap="square" lIns="0" tIns="0" rIns="0" bIns="0" rtlCol="0" anchor="ctr"/>
          <a:lstStyle/>
          <a:p>
            <a:pPr indent="0" marL="0">
              <a:buNone/>
            </a:pPr>
            <a:r>
              <a:rPr lang="en-US" sz="900" dirty="0">
                <a:solidFill>
                  <a:srgbClr val="465064"/>
                </a:solidFill>
              </a:rPr>
              <a:t>GALI BLUE / Casablanca / Recette locale</a:t>
            </a:r>
            <a:endParaRPr lang="en-US" sz="900" dirty="0"/>
          </a:p>
        </p:txBody>
      </p:sp>
      <p:sp>
        <p:nvSpPr>
          <p:cNvPr id="8" name="Text 5"/>
          <p:cNvSpPr/>
          <p:nvPr/>
        </p:nvSpPr>
        <p:spPr>
          <a:xfrm>
            <a:off x="10947197" y="6473952"/>
            <a:ext cx="731520" cy="201168"/>
          </a:xfrm>
          <a:prstGeom prst="rect">
            <a:avLst/>
          </a:prstGeom>
          <a:noFill/>
          <a:ln/>
        </p:spPr>
        <p:txBody>
          <a:bodyPr wrap="square" lIns="0" tIns="0" rIns="0" bIns="0" rtlCol="0" anchor="ctr"/>
          <a:lstStyle/>
          <a:p>
            <a:pPr indent="0" marL="0">
              <a:buNone/>
            </a:pPr>
            <a:r>
              <a:rPr lang="en-US" sz="900" dirty="0">
                <a:solidFill>
                  <a:srgbClr val="465064"/>
                </a:solidFill>
              </a:rPr>
              <a:t>18 / 25</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11403" y="557784"/>
            <a:ext cx="557784" cy="0"/>
          </a:xfrm>
          <a:prstGeom prst="line">
            <a:avLst/>
          </a:prstGeom>
          <a:noFill/>
          <a:ln w="25400">
            <a:solidFill>
              <a:srgbClr val="01258F"/>
            </a:solidFill>
            <a:prstDash val="solid"/>
          </a:ln>
        </p:spPr>
      </p:sp>
      <p:sp>
        <p:nvSpPr>
          <p:cNvPr id="4" name="Text 1"/>
          <p:cNvSpPr/>
          <p:nvPr/>
        </p:nvSpPr>
        <p:spPr>
          <a:xfrm>
            <a:off x="711403" y="713232"/>
            <a:ext cx="10771632" cy="228600"/>
          </a:xfrm>
          <a:prstGeom prst="rect">
            <a:avLst/>
          </a:prstGeom>
          <a:noFill/>
          <a:ln/>
        </p:spPr>
        <p:txBody>
          <a:bodyPr wrap="square" lIns="0" tIns="0" rIns="0" bIns="0" rtlCol="0" anchor="ctr"/>
          <a:lstStyle/>
          <a:p>
            <a:pPr indent="0" marL="0">
              <a:buNone/>
            </a:pPr>
            <a:r>
              <a:rPr lang="en-US" sz="1000" dirty="0">
                <a:solidFill>
                  <a:srgbClr val="01258F"/>
                </a:solidFill>
              </a:rPr>
              <a:t>18 / LIMITES EXPLICITES</a:t>
            </a:r>
            <a:endParaRPr lang="en-US" sz="1000" dirty="0"/>
          </a:p>
        </p:txBody>
      </p:sp>
      <p:sp>
        <p:nvSpPr>
          <p:cNvPr id="5" name="Text 2"/>
          <p:cNvSpPr/>
          <p:nvPr/>
        </p:nvSpPr>
        <p:spPr>
          <a:xfrm>
            <a:off x="685800" y="1051560"/>
            <a:ext cx="10771632" cy="512064"/>
          </a:xfrm>
          <a:prstGeom prst="rect">
            <a:avLst/>
          </a:prstGeom>
          <a:noFill/>
          <a:ln/>
        </p:spPr>
        <p:txBody>
          <a:bodyPr wrap="square" lIns="0" tIns="0" rIns="0" bIns="0" rtlCol="0" anchor="ctr">
            <a:normAutofit/>
          </a:bodyPr>
          <a:lstStyle/>
          <a:p>
            <a:pPr indent="0" marL="0">
              <a:buNone/>
            </a:pPr>
            <a:r>
              <a:rPr lang="en-US" sz="3100" dirty="0">
                <a:solidFill>
                  <a:srgbClr val="01258F"/>
                </a:solidFill>
                <a:latin typeface="Georgia" pitchFamily="34" charset="0"/>
                <a:ea typeface="Georgia" pitchFamily="34" charset="-122"/>
                <a:cs typeface="Georgia" pitchFamily="34" charset="-120"/>
              </a:rPr>
              <a:t>Conditions avant exploitation</a:t>
            </a:r>
            <a:endParaRPr lang="en-US" sz="3100" dirty="0"/>
          </a:p>
        </p:txBody>
      </p:sp>
      <p:sp>
        <p:nvSpPr>
          <p:cNvPr id="6" name="Text 3"/>
          <p:cNvSpPr/>
          <p:nvPr/>
        </p:nvSpPr>
        <p:spPr>
          <a:xfrm>
            <a:off x="711403" y="1801368"/>
            <a:ext cx="10769600" cy="4160520"/>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465064"/>
                </a:solidFill>
              </a:rPr>
              <a:t>Valider la salle reelle, les capacites, groupes et VIP ; definir les conditions et tarifs VIP sans supposition.</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Remplacer les identites .test par les collaborateurs reels ; renouveler les mots de passe et desactiver les acces</a:t>
            </a:r>
            <a:endParaRPr lang="en-US" sz="1700" dirty="0"/>
          </a:p>
          <a:p>
            <a:pPr indent="0" marL="0">
              <a:lnSpc>
                <a:spcPct val="110000"/>
              </a:lnSpc>
              <a:buNone/>
            </a:pPr>
            <a:r>
              <a:rPr lang="en-US" sz="1700" dirty="0">
                <a:solidFill>
                  <a:srgbClr val="465064"/>
                </a:solidFill>
              </a:rPr>
              <a:t>inutilises.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Remplacer photos, cheffe, carte, prix, evenements et informations de contact/legal de demonstration.</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Pas de SMS/email automatique, recuperation de mot de passe, 2FA ni report automatique implementes.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CMI exige contrat, integration, notifications signees, rapprochement et tests prestataire avant activation.</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Sauvegarder la base et les fichiers importes sur le volume persistant ; verifier le deploiement Railway apres</a:t>
            </a:r>
            <a:endParaRPr lang="en-US" sz="1700" dirty="0"/>
          </a:p>
          <a:p>
            <a:pPr indent="0" marL="0">
              <a:lnSpc>
                <a:spcPct val="110000"/>
              </a:lnSpc>
              <a:buNone/>
            </a:pPr>
            <a:r>
              <a:rPr lang="en-US" sz="1700" dirty="0">
                <a:solidFill>
                  <a:srgbClr val="465064"/>
                </a:solidFill>
              </a:rPr>
              <a:t>publication.</a:t>
            </a:r>
            <a:endParaRPr lang="en-US" sz="1700" dirty="0"/>
          </a:p>
        </p:txBody>
      </p:sp>
      <p:sp>
        <p:nvSpPr>
          <p:cNvPr id="7" name="Text 4"/>
          <p:cNvSpPr/>
          <p:nvPr/>
        </p:nvSpPr>
        <p:spPr>
          <a:xfrm>
            <a:off x="711403" y="6473952"/>
            <a:ext cx="9144000" cy="201168"/>
          </a:xfrm>
          <a:prstGeom prst="rect">
            <a:avLst/>
          </a:prstGeom>
          <a:noFill/>
          <a:ln/>
        </p:spPr>
        <p:txBody>
          <a:bodyPr wrap="square" lIns="0" tIns="0" rIns="0" bIns="0" rtlCol="0" anchor="ctr"/>
          <a:lstStyle/>
          <a:p>
            <a:pPr indent="0" marL="0">
              <a:buNone/>
            </a:pPr>
            <a:r>
              <a:rPr lang="en-US" sz="900" dirty="0">
                <a:solidFill>
                  <a:srgbClr val="465064"/>
                </a:solidFill>
              </a:rPr>
              <a:t>GALI BLUE / Casablanca / Recette locale</a:t>
            </a:r>
            <a:endParaRPr lang="en-US" sz="900" dirty="0"/>
          </a:p>
        </p:txBody>
      </p:sp>
      <p:sp>
        <p:nvSpPr>
          <p:cNvPr id="8" name="Text 5"/>
          <p:cNvSpPr/>
          <p:nvPr/>
        </p:nvSpPr>
        <p:spPr>
          <a:xfrm>
            <a:off x="10947197" y="6473952"/>
            <a:ext cx="731520" cy="201168"/>
          </a:xfrm>
          <a:prstGeom prst="rect">
            <a:avLst/>
          </a:prstGeom>
          <a:noFill/>
          <a:ln/>
        </p:spPr>
        <p:txBody>
          <a:bodyPr wrap="square" lIns="0" tIns="0" rIns="0" bIns="0" rtlCol="0" anchor="ctr"/>
          <a:lstStyle/>
          <a:p>
            <a:pPr indent="0" marL="0">
              <a:buNone/>
            </a:pPr>
            <a:r>
              <a:rPr lang="en-US" sz="900" dirty="0">
                <a:solidFill>
                  <a:srgbClr val="465064"/>
                </a:solidFill>
              </a:rPr>
              <a:t>19 / 25</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11403" y="557784"/>
            <a:ext cx="557784" cy="0"/>
          </a:xfrm>
          <a:prstGeom prst="line">
            <a:avLst/>
          </a:prstGeom>
          <a:noFill/>
          <a:ln w="25400">
            <a:solidFill>
              <a:srgbClr val="01258F"/>
            </a:solidFill>
            <a:prstDash val="solid"/>
          </a:ln>
        </p:spPr>
      </p:sp>
      <p:sp>
        <p:nvSpPr>
          <p:cNvPr id="4" name="Text 1"/>
          <p:cNvSpPr/>
          <p:nvPr/>
        </p:nvSpPr>
        <p:spPr>
          <a:xfrm>
            <a:off x="711403" y="713232"/>
            <a:ext cx="10771632" cy="228600"/>
          </a:xfrm>
          <a:prstGeom prst="rect">
            <a:avLst/>
          </a:prstGeom>
          <a:noFill/>
          <a:ln/>
        </p:spPr>
        <p:txBody>
          <a:bodyPr wrap="square" lIns="0" tIns="0" rIns="0" bIns="0" rtlCol="0" anchor="ctr"/>
          <a:lstStyle/>
          <a:p>
            <a:pPr indent="0" marL="0">
              <a:buNone/>
            </a:pPr>
            <a:r>
              <a:rPr lang="en-US" sz="1000" dirty="0">
                <a:solidFill>
                  <a:srgbClr val="01258F"/>
                </a:solidFill>
              </a:rPr>
              <a:t>ANNEXE / CAS D'USAGE</a:t>
            </a:r>
            <a:endParaRPr lang="en-US" sz="1000" dirty="0"/>
          </a:p>
        </p:txBody>
      </p:sp>
      <p:sp>
        <p:nvSpPr>
          <p:cNvPr id="5" name="Text 2"/>
          <p:cNvSpPr/>
          <p:nvPr/>
        </p:nvSpPr>
        <p:spPr>
          <a:xfrm>
            <a:off x="685800" y="1051560"/>
            <a:ext cx="10771632" cy="512064"/>
          </a:xfrm>
          <a:prstGeom prst="rect">
            <a:avLst/>
          </a:prstGeom>
          <a:noFill/>
          <a:ln/>
        </p:spPr>
        <p:txBody>
          <a:bodyPr wrap="square" lIns="0" tIns="0" rIns="0" bIns="0" rtlCol="0" anchor="ctr">
            <a:normAutofit/>
          </a:bodyPr>
          <a:lstStyle/>
          <a:p>
            <a:pPr indent="0" marL="0">
              <a:buNone/>
            </a:pPr>
            <a:r>
              <a:rPr lang="en-US" sz="3100" dirty="0">
                <a:solidFill>
                  <a:srgbClr val="01258F"/>
                </a:solidFill>
                <a:latin typeface="Georgia" pitchFamily="34" charset="0"/>
                <a:ea typeface="Georgia" pitchFamily="34" charset="-122"/>
                <a:cs typeface="Georgia" pitchFamily="34" charset="-120"/>
              </a:rPr>
              <a:t>Recette reservations 1-6</a:t>
            </a:r>
            <a:endParaRPr lang="en-US" sz="3100" dirty="0"/>
          </a:p>
        </p:txBody>
      </p:sp>
      <p:sp>
        <p:nvSpPr>
          <p:cNvPr id="6" name="Text 3"/>
          <p:cNvSpPr/>
          <p:nvPr/>
        </p:nvSpPr>
        <p:spPr>
          <a:xfrm>
            <a:off x="711403" y="1801368"/>
            <a:ext cx="10769600" cy="4160520"/>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465064"/>
                </a:solidFill>
              </a:rPr>
              <a:t>R01 / Telephone invalide refuse : PASS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R02 / Consentement absent refuse : PASS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R03 / Date impossible refusee : PASS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R04 / Date passee refusee : PASS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R05 / Date au-dela de six mois refusee : PASS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R06 / Service ferme refuse : PASS</a:t>
            </a:r>
            <a:endParaRPr lang="en-US" sz="1700" dirty="0"/>
          </a:p>
        </p:txBody>
      </p:sp>
      <p:sp>
        <p:nvSpPr>
          <p:cNvPr id="7" name="Text 4"/>
          <p:cNvSpPr/>
          <p:nvPr/>
        </p:nvSpPr>
        <p:spPr>
          <a:xfrm>
            <a:off x="711403" y="6473952"/>
            <a:ext cx="9144000" cy="201168"/>
          </a:xfrm>
          <a:prstGeom prst="rect">
            <a:avLst/>
          </a:prstGeom>
          <a:noFill/>
          <a:ln/>
        </p:spPr>
        <p:txBody>
          <a:bodyPr wrap="square" lIns="0" tIns="0" rIns="0" bIns="0" rtlCol="0" anchor="ctr"/>
          <a:lstStyle/>
          <a:p>
            <a:pPr indent="0" marL="0">
              <a:buNone/>
            </a:pPr>
            <a:r>
              <a:rPr lang="en-US" sz="900" dirty="0">
                <a:solidFill>
                  <a:srgbClr val="465064"/>
                </a:solidFill>
              </a:rPr>
              <a:t>GALI BLUE / Casablanca / Recette locale</a:t>
            </a:r>
            <a:endParaRPr lang="en-US" sz="900" dirty="0"/>
          </a:p>
        </p:txBody>
      </p:sp>
      <p:sp>
        <p:nvSpPr>
          <p:cNvPr id="8" name="Text 5"/>
          <p:cNvSpPr/>
          <p:nvPr/>
        </p:nvSpPr>
        <p:spPr>
          <a:xfrm>
            <a:off x="10947197" y="6473952"/>
            <a:ext cx="731520" cy="201168"/>
          </a:xfrm>
          <a:prstGeom prst="rect">
            <a:avLst/>
          </a:prstGeom>
          <a:noFill/>
          <a:ln/>
        </p:spPr>
        <p:txBody>
          <a:bodyPr wrap="square" lIns="0" tIns="0" rIns="0" bIns="0" rtlCol="0" anchor="ctr"/>
          <a:lstStyle/>
          <a:p>
            <a:pPr indent="0" marL="0">
              <a:buNone/>
            </a:pPr>
            <a:r>
              <a:rPr lang="en-US" sz="900" dirty="0">
                <a:solidFill>
                  <a:srgbClr val="465064"/>
                </a:solidFill>
              </a:rPr>
              <a:t>20 / 25</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11403" y="557784"/>
            <a:ext cx="557784" cy="0"/>
          </a:xfrm>
          <a:prstGeom prst="line">
            <a:avLst/>
          </a:prstGeom>
          <a:noFill/>
          <a:ln w="25400">
            <a:solidFill>
              <a:srgbClr val="01258F"/>
            </a:solidFill>
            <a:prstDash val="solid"/>
          </a:ln>
        </p:spPr>
      </p:sp>
      <p:sp>
        <p:nvSpPr>
          <p:cNvPr id="4" name="Text 1"/>
          <p:cNvSpPr/>
          <p:nvPr/>
        </p:nvSpPr>
        <p:spPr>
          <a:xfrm>
            <a:off x="711403" y="713232"/>
            <a:ext cx="10771632" cy="228600"/>
          </a:xfrm>
          <a:prstGeom prst="rect">
            <a:avLst/>
          </a:prstGeom>
          <a:noFill/>
          <a:ln/>
        </p:spPr>
        <p:txBody>
          <a:bodyPr wrap="square" lIns="0" tIns="0" rIns="0" bIns="0" rtlCol="0" anchor="ctr"/>
          <a:lstStyle/>
          <a:p>
            <a:pPr indent="0" marL="0">
              <a:buNone/>
            </a:pPr>
            <a:r>
              <a:rPr lang="en-US" sz="1000" dirty="0">
                <a:solidFill>
                  <a:srgbClr val="01258F"/>
                </a:solidFill>
              </a:rPr>
              <a:t>ANNEXE / CAS D'USAGE</a:t>
            </a:r>
            <a:endParaRPr lang="en-US" sz="1000" dirty="0"/>
          </a:p>
        </p:txBody>
      </p:sp>
      <p:sp>
        <p:nvSpPr>
          <p:cNvPr id="5" name="Text 2"/>
          <p:cNvSpPr/>
          <p:nvPr/>
        </p:nvSpPr>
        <p:spPr>
          <a:xfrm>
            <a:off x="685800" y="1051560"/>
            <a:ext cx="10771632" cy="512064"/>
          </a:xfrm>
          <a:prstGeom prst="rect">
            <a:avLst/>
          </a:prstGeom>
          <a:noFill/>
          <a:ln/>
        </p:spPr>
        <p:txBody>
          <a:bodyPr wrap="square" lIns="0" tIns="0" rIns="0" bIns="0" rtlCol="0" anchor="ctr">
            <a:normAutofit/>
          </a:bodyPr>
          <a:lstStyle/>
          <a:p>
            <a:pPr indent="0" marL="0">
              <a:buNone/>
            </a:pPr>
            <a:r>
              <a:rPr lang="en-US" sz="3100" dirty="0">
                <a:solidFill>
                  <a:srgbClr val="01258F"/>
                </a:solidFill>
                <a:latin typeface="Georgia" pitchFamily="34" charset="0"/>
                <a:ea typeface="Georgia" pitchFamily="34" charset="-122"/>
                <a:cs typeface="Georgia" pitchFamily="34" charset="-120"/>
              </a:rPr>
              <a:t>Recette reservations 7-12</a:t>
            </a:r>
            <a:endParaRPr lang="en-US" sz="3100" dirty="0"/>
          </a:p>
        </p:txBody>
      </p:sp>
      <p:sp>
        <p:nvSpPr>
          <p:cNvPr id="6" name="Text 3"/>
          <p:cNvSpPr/>
          <p:nvPr/>
        </p:nvSpPr>
        <p:spPr>
          <a:xfrm>
            <a:off x="711403" y="1801368"/>
            <a:ext cx="10769600" cy="4160520"/>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465064"/>
                </a:solidFill>
              </a:rPr>
              <a:t>R07 / Jour de fermeture refuse : PASS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R08 / Groupe au-dela du maximum refuse : PASS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R09 / Table inconnue refusee : PASS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R10 / Table trop petite refusee sur le plan : PASS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R11 / Table inactive refusee : PASS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R12 / CMI refuse et aucune remise sur place : PASS</a:t>
            </a:r>
            <a:endParaRPr lang="en-US" sz="1700" dirty="0"/>
          </a:p>
        </p:txBody>
      </p:sp>
      <p:sp>
        <p:nvSpPr>
          <p:cNvPr id="7" name="Text 4"/>
          <p:cNvSpPr/>
          <p:nvPr/>
        </p:nvSpPr>
        <p:spPr>
          <a:xfrm>
            <a:off x="711403" y="6473952"/>
            <a:ext cx="9144000" cy="201168"/>
          </a:xfrm>
          <a:prstGeom prst="rect">
            <a:avLst/>
          </a:prstGeom>
          <a:noFill/>
          <a:ln/>
        </p:spPr>
        <p:txBody>
          <a:bodyPr wrap="square" lIns="0" tIns="0" rIns="0" bIns="0" rtlCol="0" anchor="ctr"/>
          <a:lstStyle/>
          <a:p>
            <a:pPr indent="0" marL="0">
              <a:buNone/>
            </a:pPr>
            <a:r>
              <a:rPr lang="en-US" sz="900" dirty="0">
                <a:solidFill>
                  <a:srgbClr val="465064"/>
                </a:solidFill>
              </a:rPr>
              <a:t>GALI BLUE / Casablanca / Recette locale</a:t>
            </a:r>
            <a:endParaRPr lang="en-US" sz="900" dirty="0"/>
          </a:p>
        </p:txBody>
      </p:sp>
      <p:sp>
        <p:nvSpPr>
          <p:cNvPr id="8" name="Text 5"/>
          <p:cNvSpPr/>
          <p:nvPr/>
        </p:nvSpPr>
        <p:spPr>
          <a:xfrm>
            <a:off x="10947197" y="6473952"/>
            <a:ext cx="731520" cy="201168"/>
          </a:xfrm>
          <a:prstGeom prst="rect">
            <a:avLst/>
          </a:prstGeom>
          <a:noFill/>
          <a:ln/>
        </p:spPr>
        <p:txBody>
          <a:bodyPr wrap="square" lIns="0" tIns="0" rIns="0" bIns="0" rtlCol="0" anchor="ctr"/>
          <a:lstStyle/>
          <a:p>
            <a:pPr indent="0" marL="0">
              <a:buNone/>
            </a:pPr>
            <a:r>
              <a:rPr lang="en-US" sz="900" dirty="0">
                <a:solidFill>
                  <a:srgbClr val="465064"/>
                </a:solidFill>
              </a:rPr>
              <a:t>21 / 25</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11403" y="557784"/>
            <a:ext cx="557784" cy="0"/>
          </a:xfrm>
          <a:prstGeom prst="line">
            <a:avLst/>
          </a:prstGeom>
          <a:noFill/>
          <a:ln w="25400">
            <a:solidFill>
              <a:srgbClr val="01258F"/>
            </a:solidFill>
            <a:prstDash val="solid"/>
          </a:ln>
        </p:spPr>
      </p:sp>
      <p:sp>
        <p:nvSpPr>
          <p:cNvPr id="4" name="Text 1"/>
          <p:cNvSpPr/>
          <p:nvPr/>
        </p:nvSpPr>
        <p:spPr>
          <a:xfrm>
            <a:off x="711403" y="713232"/>
            <a:ext cx="10771632" cy="228600"/>
          </a:xfrm>
          <a:prstGeom prst="rect">
            <a:avLst/>
          </a:prstGeom>
          <a:noFill/>
          <a:ln/>
        </p:spPr>
        <p:txBody>
          <a:bodyPr wrap="square" lIns="0" tIns="0" rIns="0" bIns="0" rtlCol="0" anchor="ctr"/>
          <a:lstStyle/>
          <a:p>
            <a:pPr indent="0" marL="0">
              <a:buNone/>
            </a:pPr>
            <a:r>
              <a:rPr lang="en-US" sz="1000" dirty="0">
                <a:solidFill>
                  <a:srgbClr val="01258F"/>
                </a:solidFill>
              </a:rPr>
              <a:t>ANNEXE / CAS D'USAGE</a:t>
            </a:r>
            <a:endParaRPr lang="en-US" sz="1000" dirty="0"/>
          </a:p>
        </p:txBody>
      </p:sp>
      <p:sp>
        <p:nvSpPr>
          <p:cNvPr id="5" name="Text 2"/>
          <p:cNvSpPr/>
          <p:nvPr/>
        </p:nvSpPr>
        <p:spPr>
          <a:xfrm>
            <a:off x="685800" y="1051560"/>
            <a:ext cx="10771632" cy="512064"/>
          </a:xfrm>
          <a:prstGeom prst="rect">
            <a:avLst/>
          </a:prstGeom>
          <a:noFill/>
          <a:ln/>
        </p:spPr>
        <p:txBody>
          <a:bodyPr wrap="square" lIns="0" tIns="0" rIns="0" bIns="0" rtlCol="0" anchor="ctr">
            <a:normAutofit/>
          </a:bodyPr>
          <a:lstStyle/>
          <a:p>
            <a:pPr indent="0" marL="0">
              <a:buNone/>
            </a:pPr>
            <a:r>
              <a:rPr lang="en-US" sz="3100" dirty="0">
                <a:solidFill>
                  <a:srgbClr val="01258F"/>
                </a:solidFill>
                <a:latin typeface="Georgia" pitchFamily="34" charset="0"/>
                <a:ea typeface="Georgia" pitchFamily="34" charset="-122"/>
                <a:cs typeface="Georgia" pitchFamily="34" charset="-120"/>
              </a:rPr>
              <a:t>Recette reservations 13-18</a:t>
            </a:r>
            <a:endParaRPr lang="en-US" sz="3100" dirty="0"/>
          </a:p>
        </p:txBody>
      </p:sp>
      <p:sp>
        <p:nvSpPr>
          <p:cNvPr id="6" name="Text 3"/>
          <p:cNvSpPr/>
          <p:nvPr/>
        </p:nvSpPr>
        <p:spPr>
          <a:xfrm>
            <a:off x="711403" y="1801368"/>
            <a:ext cx="10769600" cy="4160520"/>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465064"/>
                </a:solidFill>
              </a:rPr>
              <a:t>R13 / Double clic idempotent : PASS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R14 / Classique standard ne recoit pas de table VIP : PASS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R15 / Classique VIP recoit exclusivement des tables VIP : PASS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R16 / Plan VIP derive la categorie reelle, pas celle falsifiee du client : PASS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R17 / Appel sans reponse conserve une demande non bloquante avec rappel : PASS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R18 / Trois clients, deux parcours, une seule confirmation sur la derniere VIP : PASS</a:t>
            </a:r>
            <a:endParaRPr lang="en-US" sz="1700" dirty="0"/>
          </a:p>
        </p:txBody>
      </p:sp>
      <p:sp>
        <p:nvSpPr>
          <p:cNvPr id="7" name="Text 4"/>
          <p:cNvSpPr/>
          <p:nvPr/>
        </p:nvSpPr>
        <p:spPr>
          <a:xfrm>
            <a:off x="711403" y="6473952"/>
            <a:ext cx="9144000" cy="201168"/>
          </a:xfrm>
          <a:prstGeom prst="rect">
            <a:avLst/>
          </a:prstGeom>
          <a:noFill/>
          <a:ln/>
        </p:spPr>
        <p:txBody>
          <a:bodyPr wrap="square" lIns="0" tIns="0" rIns="0" bIns="0" rtlCol="0" anchor="ctr"/>
          <a:lstStyle/>
          <a:p>
            <a:pPr indent="0" marL="0">
              <a:buNone/>
            </a:pPr>
            <a:r>
              <a:rPr lang="en-US" sz="900" dirty="0">
                <a:solidFill>
                  <a:srgbClr val="465064"/>
                </a:solidFill>
              </a:rPr>
              <a:t>GALI BLUE / Casablanca / Recette locale</a:t>
            </a:r>
            <a:endParaRPr lang="en-US" sz="900" dirty="0"/>
          </a:p>
        </p:txBody>
      </p:sp>
      <p:sp>
        <p:nvSpPr>
          <p:cNvPr id="8" name="Text 5"/>
          <p:cNvSpPr/>
          <p:nvPr/>
        </p:nvSpPr>
        <p:spPr>
          <a:xfrm>
            <a:off x="10947197" y="6473952"/>
            <a:ext cx="731520" cy="201168"/>
          </a:xfrm>
          <a:prstGeom prst="rect">
            <a:avLst/>
          </a:prstGeom>
          <a:noFill/>
          <a:ln/>
        </p:spPr>
        <p:txBody>
          <a:bodyPr wrap="square" lIns="0" tIns="0" rIns="0" bIns="0" rtlCol="0" anchor="ctr"/>
          <a:lstStyle/>
          <a:p>
            <a:pPr indent="0" marL="0">
              <a:buNone/>
            </a:pPr>
            <a:r>
              <a:rPr lang="en-US" sz="900" dirty="0">
                <a:solidFill>
                  <a:srgbClr val="465064"/>
                </a:solidFill>
              </a:rPr>
              <a:t>22 / 25</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11403" y="557784"/>
            <a:ext cx="557784" cy="0"/>
          </a:xfrm>
          <a:prstGeom prst="line">
            <a:avLst/>
          </a:prstGeom>
          <a:noFill/>
          <a:ln w="25400">
            <a:solidFill>
              <a:srgbClr val="01258F"/>
            </a:solidFill>
            <a:prstDash val="solid"/>
          </a:ln>
        </p:spPr>
      </p:sp>
      <p:sp>
        <p:nvSpPr>
          <p:cNvPr id="4" name="Text 1"/>
          <p:cNvSpPr/>
          <p:nvPr/>
        </p:nvSpPr>
        <p:spPr>
          <a:xfrm>
            <a:off x="711403" y="713232"/>
            <a:ext cx="10771632" cy="228600"/>
          </a:xfrm>
          <a:prstGeom prst="rect">
            <a:avLst/>
          </a:prstGeom>
          <a:noFill/>
          <a:ln/>
        </p:spPr>
        <p:txBody>
          <a:bodyPr wrap="square" lIns="0" tIns="0" rIns="0" bIns="0" rtlCol="0" anchor="ctr"/>
          <a:lstStyle/>
          <a:p>
            <a:pPr indent="0" marL="0">
              <a:buNone/>
            </a:pPr>
            <a:r>
              <a:rPr lang="en-US" sz="1000" dirty="0">
                <a:solidFill>
                  <a:srgbClr val="01258F"/>
                </a:solidFill>
              </a:rPr>
              <a:t>ANNEXE / CAS D'USAGE</a:t>
            </a:r>
            <a:endParaRPr lang="en-US" sz="1000" dirty="0"/>
          </a:p>
        </p:txBody>
      </p:sp>
      <p:sp>
        <p:nvSpPr>
          <p:cNvPr id="5" name="Text 2"/>
          <p:cNvSpPr/>
          <p:nvPr/>
        </p:nvSpPr>
        <p:spPr>
          <a:xfrm>
            <a:off x="685800" y="1051560"/>
            <a:ext cx="10771632" cy="512064"/>
          </a:xfrm>
          <a:prstGeom prst="rect">
            <a:avLst/>
          </a:prstGeom>
          <a:noFill/>
          <a:ln/>
        </p:spPr>
        <p:txBody>
          <a:bodyPr wrap="square" lIns="0" tIns="0" rIns="0" bIns="0" rtlCol="0" anchor="ctr">
            <a:normAutofit/>
          </a:bodyPr>
          <a:lstStyle/>
          <a:p>
            <a:pPr indent="0" marL="0">
              <a:buNone/>
            </a:pPr>
            <a:r>
              <a:rPr lang="en-US" sz="3100" dirty="0">
                <a:solidFill>
                  <a:srgbClr val="01258F"/>
                </a:solidFill>
                <a:latin typeface="Georgia" pitchFamily="34" charset="0"/>
                <a:ea typeface="Georgia" pitchFamily="34" charset="-122"/>
                <a:cs typeface="Georgia" pitchFamily="34" charset="-120"/>
              </a:rPr>
              <a:t>Recette reservations 19-24</a:t>
            </a:r>
            <a:endParaRPr lang="en-US" sz="3100" dirty="0"/>
          </a:p>
        </p:txBody>
      </p:sp>
      <p:sp>
        <p:nvSpPr>
          <p:cNvPr id="6" name="Text 3"/>
          <p:cNvSpPr/>
          <p:nvPr/>
        </p:nvSpPr>
        <p:spPr>
          <a:xfrm>
            <a:off x="711403" y="1801368"/>
            <a:ext cx="10769600" cy="4160520"/>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465064"/>
                </a:solidFill>
              </a:rPr>
              <a:t>R19 / Tables reunies seulement au sein du meme groupe standard : PASS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R20 / Une affectation ne change pas silencieusement standard en VIP : PASS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R21 / Service et caisse ne peuvent pas confirmer les appels : PASS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R22 / Annulation pendant l'appel ferme le dossier : PASS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R23 / Arrivee trop tot et absence avant delai refusees : PASS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R24 / Arrivee, encaissement sur place, depart et nettoyage : PASS</a:t>
            </a:r>
            <a:endParaRPr lang="en-US" sz="1700" dirty="0"/>
          </a:p>
        </p:txBody>
      </p:sp>
      <p:sp>
        <p:nvSpPr>
          <p:cNvPr id="7" name="Text 4"/>
          <p:cNvSpPr/>
          <p:nvPr/>
        </p:nvSpPr>
        <p:spPr>
          <a:xfrm>
            <a:off x="711403" y="6473952"/>
            <a:ext cx="9144000" cy="201168"/>
          </a:xfrm>
          <a:prstGeom prst="rect">
            <a:avLst/>
          </a:prstGeom>
          <a:noFill/>
          <a:ln/>
        </p:spPr>
        <p:txBody>
          <a:bodyPr wrap="square" lIns="0" tIns="0" rIns="0" bIns="0" rtlCol="0" anchor="ctr"/>
          <a:lstStyle/>
          <a:p>
            <a:pPr indent="0" marL="0">
              <a:buNone/>
            </a:pPr>
            <a:r>
              <a:rPr lang="en-US" sz="900" dirty="0">
                <a:solidFill>
                  <a:srgbClr val="465064"/>
                </a:solidFill>
              </a:rPr>
              <a:t>GALI BLUE / Casablanca / Recette locale</a:t>
            </a:r>
            <a:endParaRPr lang="en-US" sz="900" dirty="0"/>
          </a:p>
        </p:txBody>
      </p:sp>
      <p:sp>
        <p:nvSpPr>
          <p:cNvPr id="8" name="Text 5"/>
          <p:cNvSpPr/>
          <p:nvPr/>
        </p:nvSpPr>
        <p:spPr>
          <a:xfrm>
            <a:off x="10947197" y="6473952"/>
            <a:ext cx="731520" cy="201168"/>
          </a:xfrm>
          <a:prstGeom prst="rect">
            <a:avLst/>
          </a:prstGeom>
          <a:noFill/>
          <a:ln/>
        </p:spPr>
        <p:txBody>
          <a:bodyPr wrap="square" lIns="0" tIns="0" rIns="0" bIns="0" rtlCol="0" anchor="ctr"/>
          <a:lstStyle/>
          <a:p>
            <a:pPr indent="0" marL="0">
              <a:buNone/>
            </a:pPr>
            <a:r>
              <a:rPr lang="en-US" sz="900" dirty="0">
                <a:solidFill>
                  <a:srgbClr val="465064"/>
                </a:solidFill>
              </a:rPr>
              <a:t>23 / 25</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11403" y="557784"/>
            <a:ext cx="557784" cy="0"/>
          </a:xfrm>
          <a:prstGeom prst="line">
            <a:avLst/>
          </a:prstGeom>
          <a:noFill/>
          <a:ln w="25400">
            <a:solidFill>
              <a:srgbClr val="01258F"/>
            </a:solidFill>
            <a:prstDash val="solid"/>
          </a:ln>
        </p:spPr>
      </p:sp>
      <p:sp>
        <p:nvSpPr>
          <p:cNvPr id="4" name="Text 1"/>
          <p:cNvSpPr/>
          <p:nvPr/>
        </p:nvSpPr>
        <p:spPr>
          <a:xfrm>
            <a:off x="711403" y="713232"/>
            <a:ext cx="10771632" cy="228600"/>
          </a:xfrm>
          <a:prstGeom prst="rect">
            <a:avLst/>
          </a:prstGeom>
          <a:noFill/>
          <a:ln/>
        </p:spPr>
        <p:txBody>
          <a:bodyPr wrap="square" lIns="0" tIns="0" rIns="0" bIns="0" rtlCol="0" anchor="ctr"/>
          <a:lstStyle/>
          <a:p>
            <a:pPr indent="0" marL="0">
              <a:buNone/>
            </a:pPr>
            <a:r>
              <a:rPr lang="en-US" sz="1000" dirty="0">
                <a:solidFill>
                  <a:srgbClr val="01258F"/>
                </a:solidFill>
              </a:rPr>
              <a:t>ANNEXE / CAS D'USAGE</a:t>
            </a:r>
            <a:endParaRPr lang="en-US" sz="1000" dirty="0"/>
          </a:p>
        </p:txBody>
      </p:sp>
      <p:sp>
        <p:nvSpPr>
          <p:cNvPr id="5" name="Text 2"/>
          <p:cNvSpPr/>
          <p:nvPr/>
        </p:nvSpPr>
        <p:spPr>
          <a:xfrm>
            <a:off x="685800" y="1051560"/>
            <a:ext cx="10771632" cy="512064"/>
          </a:xfrm>
          <a:prstGeom prst="rect">
            <a:avLst/>
          </a:prstGeom>
          <a:noFill/>
          <a:ln/>
        </p:spPr>
        <p:txBody>
          <a:bodyPr wrap="square" lIns="0" tIns="0" rIns="0" bIns="0" rtlCol="0" anchor="ctr">
            <a:normAutofit/>
          </a:bodyPr>
          <a:lstStyle/>
          <a:p>
            <a:pPr indent="0" marL="0">
              <a:buNone/>
            </a:pPr>
            <a:r>
              <a:rPr lang="en-US" sz="3100" dirty="0">
                <a:solidFill>
                  <a:srgbClr val="01258F"/>
                </a:solidFill>
                <a:latin typeface="Georgia" pitchFamily="34" charset="0"/>
                <a:ea typeface="Georgia" pitchFamily="34" charset="-122"/>
                <a:cs typeface="Georgia" pitchFamily="34" charset="-120"/>
              </a:rPr>
              <a:t>Recette reservations 25-26</a:t>
            </a:r>
            <a:endParaRPr lang="en-US" sz="3100" dirty="0"/>
          </a:p>
        </p:txBody>
      </p:sp>
      <p:sp>
        <p:nvSpPr>
          <p:cNvPr id="6" name="Text 3"/>
          <p:cNvSpPr/>
          <p:nvPr/>
        </p:nvSpPr>
        <p:spPr>
          <a:xfrm>
            <a:off x="711403" y="1801368"/>
            <a:ext cx="10769600" cy="4160520"/>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465064"/>
                </a:solidFill>
              </a:rPr>
              <a:t>R25 / Absence apres delai de grace et liberation de table : PASS</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R26 / Les deux interrupteurs sont verifies au serveur : PASS</a:t>
            </a:r>
            <a:endParaRPr lang="en-US" sz="1700" dirty="0"/>
          </a:p>
        </p:txBody>
      </p:sp>
      <p:sp>
        <p:nvSpPr>
          <p:cNvPr id="7" name="Text 4"/>
          <p:cNvSpPr/>
          <p:nvPr/>
        </p:nvSpPr>
        <p:spPr>
          <a:xfrm>
            <a:off x="711403" y="6473952"/>
            <a:ext cx="9144000" cy="201168"/>
          </a:xfrm>
          <a:prstGeom prst="rect">
            <a:avLst/>
          </a:prstGeom>
          <a:noFill/>
          <a:ln/>
        </p:spPr>
        <p:txBody>
          <a:bodyPr wrap="square" lIns="0" tIns="0" rIns="0" bIns="0" rtlCol="0" anchor="ctr"/>
          <a:lstStyle/>
          <a:p>
            <a:pPr indent="0" marL="0">
              <a:buNone/>
            </a:pPr>
            <a:r>
              <a:rPr lang="en-US" sz="900" dirty="0">
                <a:solidFill>
                  <a:srgbClr val="465064"/>
                </a:solidFill>
              </a:rPr>
              <a:t>GALI BLUE / Casablanca / Recette locale</a:t>
            </a:r>
            <a:endParaRPr lang="en-US" sz="900" dirty="0"/>
          </a:p>
        </p:txBody>
      </p:sp>
      <p:sp>
        <p:nvSpPr>
          <p:cNvPr id="8" name="Text 5"/>
          <p:cNvSpPr/>
          <p:nvPr/>
        </p:nvSpPr>
        <p:spPr>
          <a:xfrm>
            <a:off x="10947197" y="6473952"/>
            <a:ext cx="731520" cy="201168"/>
          </a:xfrm>
          <a:prstGeom prst="rect">
            <a:avLst/>
          </a:prstGeom>
          <a:noFill/>
          <a:ln/>
        </p:spPr>
        <p:txBody>
          <a:bodyPr wrap="square" lIns="0" tIns="0" rIns="0" bIns="0" rtlCol="0" anchor="ctr"/>
          <a:lstStyle/>
          <a:p>
            <a:pPr indent="0" marL="0">
              <a:buNone/>
            </a:pPr>
            <a:r>
              <a:rPr lang="en-US" sz="900" dirty="0">
                <a:solidFill>
                  <a:srgbClr val="465064"/>
                </a:solidFill>
              </a:rPr>
              <a:t>24 / 25</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11403" y="557784"/>
            <a:ext cx="557784" cy="0"/>
          </a:xfrm>
          <a:prstGeom prst="line">
            <a:avLst/>
          </a:prstGeom>
          <a:noFill/>
          <a:ln w="25400">
            <a:solidFill>
              <a:srgbClr val="01258F"/>
            </a:solidFill>
            <a:prstDash val="solid"/>
          </a:ln>
        </p:spPr>
      </p:sp>
      <p:sp>
        <p:nvSpPr>
          <p:cNvPr id="4" name="Text 1"/>
          <p:cNvSpPr/>
          <p:nvPr/>
        </p:nvSpPr>
        <p:spPr>
          <a:xfrm>
            <a:off x="711403" y="713232"/>
            <a:ext cx="10771632" cy="228600"/>
          </a:xfrm>
          <a:prstGeom prst="rect">
            <a:avLst/>
          </a:prstGeom>
          <a:noFill/>
          <a:ln/>
        </p:spPr>
        <p:txBody>
          <a:bodyPr wrap="square" lIns="0" tIns="0" rIns="0" bIns="0" rtlCol="0" anchor="ctr"/>
          <a:lstStyle/>
          <a:p>
            <a:pPr indent="0" marL="0">
              <a:buNone/>
            </a:pPr>
            <a:r>
              <a:rPr lang="en-US" sz="1000" dirty="0">
                <a:solidFill>
                  <a:srgbClr val="01258F"/>
                </a:solidFill>
              </a:rPr>
              <a:t>ANNEXE / DOCUMENTATION</a:t>
            </a:r>
            <a:endParaRPr lang="en-US" sz="1000" dirty="0"/>
          </a:p>
        </p:txBody>
      </p:sp>
      <p:sp>
        <p:nvSpPr>
          <p:cNvPr id="5" name="Text 2"/>
          <p:cNvSpPr/>
          <p:nvPr/>
        </p:nvSpPr>
        <p:spPr>
          <a:xfrm>
            <a:off x="685800" y="1051560"/>
            <a:ext cx="10771632" cy="512064"/>
          </a:xfrm>
          <a:prstGeom prst="rect">
            <a:avLst/>
          </a:prstGeom>
          <a:noFill/>
          <a:ln/>
        </p:spPr>
        <p:txBody>
          <a:bodyPr wrap="square" lIns="0" tIns="0" rIns="0" bIns="0" rtlCol="0" anchor="ctr">
            <a:normAutofit/>
          </a:bodyPr>
          <a:lstStyle/>
          <a:p>
            <a:pPr indent="0" marL="0">
              <a:buNone/>
            </a:pPr>
            <a:r>
              <a:rPr lang="en-US" sz="3100" dirty="0">
                <a:solidFill>
                  <a:srgbClr val="01258F"/>
                </a:solidFill>
                <a:latin typeface="Georgia" pitchFamily="34" charset="0"/>
                <a:ea typeface="Georgia" pitchFamily="34" charset="-122"/>
                <a:cs typeface="Georgia" pitchFamily="34" charset="-120"/>
              </a:rPr>
              <a:t>Reproduire et maintenir</a:t>
            </a:r>
            <a:endParaRPr lang="en-US" sz="3100" dirty="0"/>
          </a:p>
        </p:txBody>
      </p:sp>
      <p:sp>
        <p:nvSpPr>
          <p:cNvPr id="6" name="Text 3"/>
          <p:cNvSpPr/>
          <p:nvPr/>
        </p:nvSpPr>
        <p:spPr>
          <a:xfrm>
            <a:off x="711403" y="1801368"/>
            <a:ext cx="10769600" cy="4160520"/>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465064"/>
                </a:solidFill>
              </a:rPr>
              <a:t>Guide detaille : docs/GUIDE-UTILISATION.md ; regeneration : npm run docs:generate.</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Comptes : npm run test:accounts ; salle : npm run test:floor.</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General : npm run test:ui ; mobile : npm run test:responsive ; regles serveur : npm test.</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Tests avec base : uniquement localement, sequentiellement ; jamais sur une base de production.</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Les acces d'equipe seront initialises une seule fois lors du prochain demarrage de la nouvelle image deployee.</a:t>
            </a:r>
            <a:endParaRPr lang="en-US" sz="1700" dirty="0"/>
          </a:p>
          <a:p>
            <a:pPr indent="0" marL="0">
              <a:lnSpc>
                <a:spcPct val="110000"/>
              </a:lnSpc>
              <a:buNone/>
            </a:pPr>
            <a:endParaRPr lang="en-US" sz="1700" dirty="0"/>
          </a:p>
          <a:p>
            <a:pPr indent="0" marL="0">
              <a:lnSpc>
                <a:spcPct val="110000"/>
              </a:lnSpc>
              <a:buNone/>
            </a:pPr>
            <a:r>
              <a:rPr lang="en-US" sz="1700" dirty="0">
                <a:solidFill>
                  <a:srgbClr val="465064"/>
                </a:solidFill>
              </a:rPr>
              <a:t>GALI BLUE / Casablanca / blanc et #01258F. Aucun mot de passe dans les livrables publics.</a:t>
            </a:r>
            <a:endParaRPr lang="en-US" sz="1700" dirty="0"/>
          </a:p>
        </p:txBody>
      </p:sp>
      <p:sp>
        <p:nvSpPr>
          <p:cNvPr id="7" name="Text 4"/>
          <p:cNvSpPr/>
          <p:nvPr/>
        </p:nvSpPr>
        <p:spPr>
          <a:xfrm>
            <a:off x="711403" y="6473952"/>
            <a:ext cx="9144000" cy="201168"/>
          </a:xfrm>
          <a:prstGeom prst="rect">
            <a:avLst/>
          </a:prstGeom>
          <a:noFill/>
          <a:ln/>
        </p:spPr>
        <p:txBody>
          <a:bodyPr wrap="square" lIns="0" tIns="0" rIns="0" bIns="0" rtlCol="0" anchor="ctr"/>
          <a:lstStyle/>
          <a:p>
            <a:pPr indent="0" marL="0">
              <a:buNone/>
            </a:pPr>
            <a:r>
              <a:rPr lang="en-US" sz="900" dirty="0">
                <a:solidFill>
                  <a:srgbClr val="465064"/>
                </a:solidFill>
              </a:rPr>
              <a:t>GALI BLUE / Casablanca / Recette locale</a:t>
            </a:r>
            <a:endParaRPr lang="en-US" sz="900" dirty="0"/>
          </a:p>
        </p:txBody>
      </p:sp>
      <p:sp>
        <p:nvSpPr>
          <p:cNvPr id="8" name="Text 5"/>
          <p:cNvSpPr/>
          <p:nvPr/>
        </p:nvSpPr>
        <p:spPr>
          <a:xfrm>
            <a:off x="10947197" y="6473952"/>
            <a:ext cx="731520" cy="201168"/>
          </a:xfrm>
          <a:prstGeom prst="rect">
            <a:avLst/>
          </a:prstGeom>
          <a:noFill/>
          <a:ln/>
        </p:spPr>
        <p:txBody>
          <a:bodyPr wrap="square" lIns="0" tIns="0" rIns="0" bIns="0" rtlCol="0" anchor="ctr"/>
          <a:lstStyle/>
          <a:p>
            <a:pPr indent="0" marL="0">
              <a:buNone/>
            </a:pPr>
            <a:r>
              <a:rPr lang="en-US" sz="900" dirty="0">
                <a:solidFill>
                  <a:srgbClr val="465064"/>
                </a:solidFill>
              </a:rPr>
              <a:t>25 / 25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GALI BLUE - Presentation et cas d'usage</dc:title>
  <dc:subject>Site, reservations, equipe et recette locale</dc:subject>
  <dc:creator>GALI BLUE</dc:creator>
  <cp:lastModifiedBy>GALI BLUE</cp:lastModifiedBy>
  <cp:revision>1</cp:revision>
  <dcterms:created xsi:type="dcterms:W3CDTF">2026-10-03T16:57:14Z</dcterms:created>
  <dcterms:modified xsi:type="dcterms:W3CDTF">2026-10-03T16:57:14Z</dcterms:modified>
</cp:coreProperties>
</file>